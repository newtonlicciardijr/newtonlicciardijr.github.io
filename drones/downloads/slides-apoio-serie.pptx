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6da33d03d643ca" /><Relationship Type="http://schemas.openxmlformats.org/officeDocument/2006/relationships/extended-properties" Target="/docProps/app.xml" Id="R25ad4fc8ba5b4588" /><Relationship Type="http://schemas.openxmlformats.org/officeDocument/2006/relationships/officeDocument" Target="/ppt/presentation.xml" Id="R871c7d2b8ceb42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94f094854e4e49"/>
  </p:sldMasterIdLst>
  <p:notesMasterIdLst>
    <p:notesMasterId xmlns:r="http://schemas.openxmlformats.org/officeDocument/2006/relationships" r:id="R4178f79b447d45ba"/>
  </p:notesMasterIdLst>
  <p:sldIdLst>
    <p:sldId xmlns:r="http://schemas.openxmlformats.org/officeDocument/2006/relationships" id="256" r:id="R5a3493afcc4c42a4"/>
    <p:sldId xmlns:r="http://schemas.openxmlformats.org/officeDocument/2006/relationships" id="257" r:id="Re7e82212a9ce4ee1"/>
    <p:sldId xmlns:r="http://schemas.openxmlformats.org/officeDocument/2006/relationships" id="258" r:id="R47abd7aa707b4401"/>
    <p:sldId xmlns:r="http://schemas.openxmlformats.org/officeDocument/2006/relationships" id="259" r:id="R46c701ffe81b4b5b"/>
    <p:sldId xmlns:r="http://schemas.openxmlformats.org/officeDocument/2006/relationships" id="260" r:id="R1d09dc1c288b4245"/>
    <p:sldId xmlns:r="http://schemas.openxmlformats.org/officeDocument/2006/relationships" id="261" r:id="R557b2a5abbb04989"/>
    <p:sldId xmlns:r="http://schemas.openxmlformats.org/officeDocument/2006/relationships" id="262" r:id="R9106ef22678a4b3f"/>
    <p:sldId xmlns:r="http://schemas.openxmlformats.org/officeDocument/2006/relationships" id="263" r:id="Rb18cd9a1691c464d"/>
    <p:sldId xmlns:r="http://schemas.openxmlformats.org/officeDocument/2006/relationships" id="264" r:id="Rd2a1a2a36a824bc9"/>
    <p:sldId xmlns:r="http://schemas.openxmlformats.org/officeDocument/2006/relationships" id="265" r:id="R894bf858c5674bb2"/>
    <p:sldId xmlns:r="http://schemas.openxmlformats.org/officeDocument/2006/relationships" id="266" r:id="R78640b8769af4c16"/>
    <p:sldId xmlns:r="http://schemas.openxmlformats.org/officeDocument/2006/relationships" id="267" r:id="R4d4fbe2fccae4d97"/>
    <p:sldId xmlns:r="http://schemas.openxmlformats.org/officeDocument/2006/relationships" id="268" r:id="Rd7e2d089cad44897"/>
    <p:sldId xmlns:r="http://schemas.openxmlformats.org/officeDocument/2006/relationships" id="269" r:id="R02613812355d4fb0"/>
    <p:sldId xmlns:r="http://schemas.openxmlformats.org/officeDocument/2006/relationships" id="270" r:id="Re789b0ba34e7436b"/>
    <p:sldId xmlns:r="http://schemas.openxmlformats.org/officeDocument/2006/relationships" id="271" r:id="R4e8d10e66a5842c2"/>
    <p:sldId xmlns:r="http://schemas.openxmlformats.org/officeDocument/2006/relationships" id="272" r:id="Red3ed19a7e794aa0"/>
    <p:sldId xmlns:r="http://schemas.openxmlformats.org/officeDocument/2006/relationships" id="273" r:id="R0d52866d5b134671"/>
    <p:sldId xmlns:r="http://schemas.openxmlformats.org/officeDocument/2006/relationships" id="274" r:id="R06b65ba8832046ba"/>
    <p:sldId xmlns:r="http://schemas.openxmlformats.org/officeDocument/2006/relationships" id="275" r:id="Rd7ec147ae8734791"/>
    <p:sldId xmlns:r="http://schemas.openxmlformats.org/officeDocument/2006/relationships" id="276" r:id="R362337044a584858"/>
    <p:sldId xmlns:r="http://schemas.openxmlformats.org/officeDocument/2006/relationships" id="277" r:id="Rb3eaee67c3a34102"/>
    <p:sldId xmlns:r="http://schemas.openxmlformats.org/officeDocument/2006/relationships" id="278" r:id="Ra357bd252db14022"/>
    <p:sldId xmlns:r="http://schemas.openxmlformats.org/officeDocument/2006/relationships" id="279" r:id="R3f79b168f81e467b"/>
    <p:sldId xmlns:r="http://schemas.openxmlformats.org/officeDocument/2006/relationships" id="280" r:id="R4ac94af56cdd415f"/>
    <p:sldId xmlns:r="http://schemas.openxmlformats.org/officeDocument/2006/relationships" id="281" r:id="R6304bab1d6964bb0"/>
    <p:sldId xmlns:r="http://schemas.openxmlformats.org/officeDocument/2006/relationships" id="282" r:id="Rd7b58e4dca07472a"/>
    <p:sldId xmlns:r="http://schemas.openxmlformats.org/officeDocument/2006/relationships" id="283" r:id="Rfe950db2602d47d0"/>
    <p:sldId xmlns:r="http://schemas.openxmlformats.org/officeDocument/2006/relationships" id="284" r:id="Re282fba0285a4832"/>
    <p:sldId xmlns:r="http://schemas.openxmlformats.org/officeDocument/2006/relationships" id="285" r:id="R3c5f16d998884061"/>
    <p:sldId xmlns:r="http://schemas.openxmlformats.org/officeDocument/2006/relationships" id="286" r:id="R4856e5ed9f6d4266"/>
    <p:sldId xmlns:r="http://schemas.openxmlformats.org/officeDocument/2006/relationships" id="287" r:id="Rad79e61f570440f2"/>
    <p:sldId xmlns:r="http://schemas.openxmlformats.org/officeDocument/2006/relationships" id="288" r:id="Rcb15f553b7ea4350"/>
    <p:sldId xmlns:r="http://schemas.openxmlformats.org/officeDocument/2006/relationships" id="289" r:id="R2ba0dc4037404686"/>
    <p:sldId xmlns:r="http://schemas.openxmlformats.org/officeDocument/2006/relationships" id="290" r:id="R300ee2af6f374c89"/>
    <p:sldId xmlns:r="http://schemas.openxmlformats.org/officeDocument/2006/relationships" id="291" r:id="R84fee73cdc914823"/>
    <p:sldId xmlns:r="http://schemas.openxmlformats.org/officeDocument/2006/relationships" id="292" r:id="Rf5f7c3e279e943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887fa9df314b7e" /><Relationship Type="http://schemas.openxmlformats.org/officeDocument/2006/relationships/slideMaster" Target="/ppt/slideMasters/slideMaster1.xml" Id="Rda94f094854e4e49" /><Relationship Type="http://schemas.openxmlformats.org/officeDocument/2006/relationships/notesMaster" Target="/ppt/notesMasters/notesMaster1.xml" Id="R4178f79b447d45ba" /><Relationship Type="http://schemas.openxmlformats.org/officeDocument/2006/relationships/presProps" Target="/ppt/presProps.xml" Id="Rc049a3ba7cd241f0" /><Relationship Type="http://schemas.openxmlformats.org/officeDocument/2006/relationships/tableStyles" Target="/ppt/tableStyles.xml" Id="Rd194d64c22fe4f44" /><Relationship Type="http://schemas.openxmlformats.org/officeDocument/2006/relationships/slide" Target="/ppt/slides/slide1.xml" Id="R5a3493afcc4c42a4" /><Relationship Type="http://schemas.openxmlformats.org/officeDocument/2006/relationships/slide" Target="/ppt/slides/slide2.xml" Id="Re7e82212a9ce4ee1" /><Relationship Type="http://schemas.openxmlformats.org/officeDocument/2006/relationships/slide" Target="/ppt/slides/slide3.xml" Id="R47abd7aa707b4401" /><Relationship Type="http://schemas.openxmlformats.org/officeDocument/2006/relationships/slide" Target="/ppt/slides/slide4.xml" Id="R46c701ffe81b4b5b" /><Relationship Type="http://schemas.openxmlformats.org/officeDocument/2006/relationships/slide" Target="/ppt/slides/slide5.xml" Id="R1d09dc1c288b4245" /><Relationship Type="http://schemas.openxmlformats.org/officeDocument/2006/relationships/slide" Target="/ppt/slides/slide6.xml" Id="R557b2a5abbb04989" /><Relationship Type="http://schemas.openxmlformats.org/officeDocument/2006/relationships/slide" Target="/ppt/slides/slide7.xml" Id="R9106ef22678a4b3f" /><Relationship Type="http://schemas.openxmlformats.org/officeDocument/2006/relationships/slide" Target="/ppt/slides/slide8.xml" Id="Rb18cd9a1691c464d" /><Relationship Type="http://schemas.openxmlformats.org/officeDocument/2006/relationships/slide" Target="/ppt/slides/slide9.xml" Id="Rd2a1a2a36a824bc9" /><Relationship Type="http://schemas.openxmlformats.org/officeDocument/2006/relationships/slide" Target="/ppt/slides/slide10.xml" Id="R894bf858c5674bb2" /><Relationship Type="http://schemas.openxmlformats.org/officeDocument/2006/relationships/slide" Target="/ppt/slides/slide11.xml" Id="R78640b8769af4c16" /><Relationship Type="http://schemas.openxmlformats.org/officeDocument/2006/relationships/slide" Target="/ppt/slides/slide12.xml" Id="R4d4fbe2fccae4d97" /><Relationship Type="http://schemas.openxmlformats.org/officeDocument/2006/relationships/slide" Target="/ppt/slides/slide13.xml" Id="Rd7e2d089cad44897" /><Relationship Type="http://schemas.openxmlformats.org/officeDocument/2006/relationships/slide" Target="/ppt/slides/slide14.xml" Id="R02613812355d4fb0" /><Relationship Type="http://schemas.openxmlformats.org/officeDocument/2006/relationships/slide" Target="/ppt/slides/slide15.xml" Id="Re789b0ba34e7436b" /><Relationship Type="http://schemas.openxmlformats.org/officeDocument/2006/relationships/slide" Target="/ppt/slides/slide16.xml" Id="R4e8d10e66a5842c2" /><Relationship Type="http://schemas.openxmlformats.org/officeDocument/2006/relationships/slide" Target="/ppt/slides/slide17.xml" Id="Red3ed19a7e794aa0" /><Relationship Type="http://schemas.openxmlformats.org/officeDocument/2006/relationships/slide" Target="/ppt/slides/slide18.xml" Id="R0d52866d5b134671" /><Relationship Type="http://schemas.openxmlformats.org/officeDocument/2006/relationships/slide" Target="/ppt/slides/slide19.xml" Id="R06b65ba8832046ba" /><Relationship Type="http://schemas.openxmlformats.org/officeDocument/2006/relationships/slide" Target="/ppt/slides/slide20.xml" Id="Rd7ec147ae8734791" /><Relationship Type="http://schemas.openxmlformats.org/officeDocument/2006/relationships/slide" Target="/ppt/slides/slide21.xml" Id="R362337044a584858" /><Relationship Type="http://schemas.openxmlformats.org/officeDocument/2006/relationships/slide" Target="/ppt/slides/slide22.xml" Id="Rb3eaee67c3a34102" /><Relationship Type="http://schemas.openxmlformats.org/officeDocument/2006/relationships/slide" Target="/ppt/slides/slide23.xml" Id="Ra357bd252db14022" /><Relationship Type="http://schemas.openxmlformats.org/officeDocument/2006/relationships/slide" Target="/ppt/slides/slide24.xml" Id="R3f79b168f81e467b" /><Relationship Type="http://schemas.openxmlformats.org/officeDocument/2006/relationships/slide" Target="/ppt/slides/slide25.xml" Id="R4ac94af56cdd415f" /><Relationship Type="http://schemas.openxmlformats.org/officeDocument/2006/relationships/slide" Target="/ppt/slides/slide26.xml" Id="R6304bab1d6964bb0" /><Relationship Type="http://schemas.openxmlformats.org/officeDocument/2006/relationships/slide" Target="/ppt/slides/slide27.xml" Id="Rd7b58e4dca07472a" /><Relationship Type="http://schemas.openxmlformats.org/officeDocument/2006/relationships/slide" Target="/ppt/slides/slide28.xml" Id="Rfe950db2602d47d0" /><Relationship Type="http://schemas.openxmlformats.org/officeDocument/2006/relationships/slide" Target="/ppt/slides/slide29.xml" Id="Re282fba0285a4832" /><Relationship Type="http://schemas.openxmlformats.org/officeDocument/2006/relationships/slide" Target="/ppt/slides/slide30.xml" Id="R3c5f16d998884061" /><Relationship Type="http://schemas.openxmlformats.org/officeDocument/2006/relationships/slide" Target="/ppt/slides/slide31.xml" Id="R4856e5ed9f6d4266" /><Relationship Type="http://schemas.openxmlformats.org/officeDocument/2006/relationships/slide" Target="/ppt/slides/slide32.xml" Id="Rad79e61f570440f2" /><Relationship Type="http://schemas.openxmlformats.org/officeDocument/2006/relationships/slide" Target="/ppt/slides/slide33.xml" Id="Rcb15f553b7ea4350" /><Relationship Type="http://schemas.openxmlformats.org/officeDocument/2006/relationships/slide" Target="/ppt/slides/slide34.xml" Id="R2ba0dc4037404686" /><Relationship Type="http://schemas.openxmlformats.org/officeDocument/2006/relationships/slide" Target="/ppt/slides/slide35.xml" Id="R300ee2af6f374c89" /><Relationship Type="http://schemas.openxmlformats.org/officeDocument/2006/relationships/slide" Target="/ppt/slides/slide36.xml" Id="R84fee73cdc914823" /><Relationship Type="http://schemas.openxmlformats.org/officeDocument/2006/relationships/slide" Target="/ppt/slides/slide37.xml" Id="Rf5f7c3e279e943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aef39146af46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492ddcb1384c1b" /><Relationship Type="http://schemas.openxmlformats.org/officeDocument/2006/relationships/notesMaster" Target="/ppt/notesMasters/notesMaster1.xml" Id="R0b4826481a2440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88c587ad684ccf" /><Relationship Type="http://schemas.openxmlformats.org/officeDocument/2006/relationships/notesMaster" Target="/ppt/notesMasters/notesMaster1.xml" Id="R80f566035c6249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969d11780c4d3e" /><Relationship Type="http://schemas.openxmlformats.org/officeDocument/2006/relationships/notesMaster" Target="/ppt/notesMasters/notesMaster1.xml" Id="R5510431916b74b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9d26cc273b4b0c" /><Relationship Type="http://schemas.openxmlformats.org/officeDocument/2006/relationships/notesMaster" Target="/ppt/notesMasters/notesMaster1.xml" Id="R22366489aca84d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520a7dd2d74aa6" /><Relationship Type="http://schemas.openxmlformats.org/officeDocument/2006/relationships/notesMaster" Target="/ppt/notesMasters/notesMaster1.xml" Id="R1f08037d80674a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68434d27614818" /><Relationship Type="http://schemas.openxmlformats.org/officeDocument/2006/relationships/notesMaster" Target="/ppt/notesMasters/notesMaster1.xml" Id="R4664018c7c9644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bc5a83c3a34b76" /><Relationship Type="http://schemas.openxmlformats.org/officeDocument/2006/relationships/notesMaster" Target="/ppt/notesMasters/notesMaster1.xml" Id="R2fa1bead77f94e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9e0ad1c1a5448b" /><Relationship Type="http://schemas.openxmlformats.org/officeDocument/2006/relationships/notesMaster" Target="/ppt/notesMasters/notesMaster1.xml" Id="R4b15110a73064c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37542c44a04120" /><Relationship Type="http://schemas.openxmlformats.org/officeDocument/2006/relationships/notesMaster" Target="/ppt/notesMasters/notesMaster1.xml" Id="Rc98aba9959854a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2be874a6b34012" /><Relationship Type="http://schemas.openxmlformats.org/officeDocument/2006/relationships/notesMaster" Target="/ppt/notesMasters/notesMaster1.xml" Id="R36b232c5956d40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49880ac7dd40ee" /><Relationship Type="http://schemas.openxmlformats.org/officeDocument/2006/relationships/notesMaster" Target="/ppt/notesMasters/notesMaster1.xml" Id="R84a55db0c50a45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e499c8f66348e1" /><Relationship Type="http://schemas.openxmlformats.org/officeDocument/2006/relationships/notesMaster" Target="/ppt/notesMasters/notesMaster1.xml" Id="R1b5b3daaca234f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868b9b3fc24b0c" /><Relationship Type="http://schemas.openxmlformats.org/officeDocument/2006/relationships/notesMaster" Target="/ppt/notesMasters/notesMaster1.xml" Id="Re49d4726f46e48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37f47c1a1c4048" /><Relationship Type="http://schemas.openxmlformats.org/officeDocument/2006/relationships/notesMaster" Target="/ppt/notesMasters/notesMaster1.xml" Id="R5b3915c31a0f4b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9d50833e544e4a" /><Relationship Type="http://schemas.openxmlformats.org/officeDocument/2006/relationships/notesMaster" Target="/ppt/notesMasters/notesMaster1.xml" Id="R6a15a44c55964a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3ac438335345c8" /><Relationship Type="http://schemas.openxmlformats.org/officeDocument/2006/relationships/notesMaster" Target="/ppt/notesMasters/notesMaster1.xml" Id="Rbeab73a6b60e41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f168b62dcc4183" /><Relationship Type="http://schemas.openxmlformats.org/officeDocument/2006/relationships/notesMaster" Target="/ppt/notesMasters/notesMaster1.xml" Id="R3435f624acad47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7b1560168f4113" /><Relationship Type="http://schemas.openxmlformats.org/officeDocument/2006/relationships/notesMaster" Target="/ppt/notesMasters/notesMaster1.xml" Id="R5413950e150c40c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9badd50668443b" /><Relationship Type="http://schemas.openxmlformats.org/officeDocument/2006/relationships/notesMaster" Target="/ppt/notesMasters/notesMaster1.xml" Id="R82668c1377274a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76069671714eee" /><Relationship Type="http://schemas.openxmlformats.org/officeDocument/2006/relationships/notesMaster" Target="/ppt/notesMasters/notesMaster1.xml" Id="R5530f703347044a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4f218704ef4e20" /><Relationship Type="http://schemas.openxmlformats.org/officeDocument/2006/relationships/notesMaster" Target="/ppt/notesMasters/notesMaster1.xml" Id="Rc095e75331ee489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632f2f6fc8d476a" /><Relationship Type="http://schemas.openxmlformats.org/officeDocument/2006/relationships/notesMaster" Target="/ppt/notesMasters/notesMaster1.xml" Id="Re1b06a792dfd45e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2d8d236f9e4cc2" /><Relationship Type="http://schemas.openxmlformats.org/officeDocument/2006/relationships/notesMaster" Target="/ppt/notesMasters/notesMaster1.xml" Id="R2dd9def43fcb4c1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bf90622f3f943d8" /><Relationship Type="http://schemas.openxmlformats.org/officeDocument/2006/relationships/notesMaster" Target="/ppt/notesMasters/notesMaster1.xml" Id="R146eb6e714d540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585ed3f51ee440e" /><Relationship Type="http://schemas.openxmlformats.org/officeDocument/2006/relationships/notesMaster" Target="/ppt/notesMasters/notesMaster1.xml" Id="R895a5f0315774a9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f0d591ce7964bf1" /><Relationship Type="http://schemas.openxmlformats.org/officeDocument/2006/relationships/notesMaster" Target="/ppt/notesMasters/notesMaster1.xml" Id="Rc75baeb03bb24a6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3b8964e50748ee" /><Relationship Type="http://schemas.openxmlformats.org/officeDocument/2006/relationships/notesMaster" Target="/ppt/notesMasters/notesMaster1.xml" Id="Ra7939060ead04b9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ecab3da3c77487e" /><Relationship Type="http://schemas.openxmlformats.org/officeDocument/2006/relationships/notesMaster" Target="/ppt/notesMasters/notesMaster1.xml" Id="Ra9878118484f45f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56965b0aab84ad1" /><Relationship Type="http://schemas.openxmlformats.org/officeDocument/2006/relationships/notesMaster" Target="/ppt/notesMasters/notesMaster1.xml" Id="R383648ae57934a5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a9089e1611848a4" /><Relationship Type="http://schemas.openxmlformats.org/officeDocument/2006/relationships/notesMaster" Target="/ppt/notesMasters/notesMaster1.xml" Id="R9a184808a1cc40d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e8d9d9cbb234be0" /><Relationship Type="http://schemas.openxmlformats.org/officeDocument/2006/relationships/notesMaster" Target="/ppt/notesMasters/notesMaster1.xml" Id="R455ea184d9ee438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5ff0b4aa45c4cb7" /><Relationship Type="http://schemas.openxmlformats.org/officeDocument/2006/relationships/notesMaster" Target="/ppt/notesMasters/notesMaster1.xml" Id="Rb613c94385ce47e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d05ba40ea5e42c1" /><Relationship Type="http://schemas.openxmlformats.org/officeDocument/2006/relationships/notesMaster" Target="/ppt/notesMasters/notesMaster1.xml" Id="Raaab3323e30840d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ce5d4ecab5848c3" /><Relationship Type="http://schemas.openxmlformats.org/officeDocument/2006/relationships/notesMaster" Target="/ppt/notesMasters/notesMaster1.xml" Id="R82544caf66ff416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1e2a7a615824baf" /><Relationship Type="http://schemas.openxmlformats.org/officeDocument/2006/relationships/notesMaster" Target="/ppt/notesMasters/notesMaster1.xml" Id="Re98ab1f8537648c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173808f11484cb9" /><Relationship Type="http://schemas.openxmlformats.org/officeDocument/2006/relationships/notesMaster" Target="/ppt/notesMasters/notesMaster1.xml" Id="R74a2b0432dcc4d6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5c4d1d111cd4cd9" /><Relationship Type="http://schemas.openxmlformats.org/officeDocument/2006/relationships/notesMaster" Target="/ppt/notesMasters/notesMaster1.xml" Id="R8c7f3be12e1246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 de apoio à gravação da série de extensão Drones Muito Além do Voo. Apresentação: Prof. Newton Licciardi Jr. e professor instrutor. 37 slides: abertura e três telas por episódio. O roteiro completo e a apostila permanecem no acervo. Fontes editoriais consultadas em 09/10/2026. Apoio visual preparado em 13/10/2026. https://newtonlicciardijr.github.io/drones/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01: O drone é só uma parte do sistema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 1 • fundamentos, missão e aplicações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Quando alguém fala em drone, muita gente imagina uma câmera voadora. Mas a pergunta que abre esta série é outra: qual problema esse voo resolve? É disso que trata Drones Muito Além do Voo.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Na prática, eu preciso saber o que vou entregar antes de decolar. Uma imagem panorâmica pode ser ótima para divulgação e insuficiente para identificar uma fissura. O planejamento começa pela informação desejada.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Observe estes três exemplos: um pequeno quadricóptero, uma aeronave de vigilância e um helicóptero de pesquisa em Marte. A arquitetura muda porque a missão muda. Não existe um único drone ideal para tudo.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ponto de partida de uma missão é a pergunta que precisa ser respondida. Inspecionar um telhado, acompanhar uma obra e apoiar um resgate podem usar imagens aéreas, mas pedem sensores, enquadramentos, prazos e validações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sistema reúne aeronave, energia, sensores, estação de controle, enlace e pessoas. A informação passa por uma cadeia: requisito, aquisição, processamento, interpretação e entrega. Uma falha em qualquer etapa pode inutilizar um voo tecnicamente correto.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Mini 4 Pro — especificações [Fabricante]: https://www.dji.com/mini-4-pro/specs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Systems • Hermes 900 [Fabricante]: https://www.elbitsystems.com/autonomous/aerial/male-unmanned-aircraft-systems/hermes-900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NASA • encerramento da missão Ingenuity [Agência de pesquisa]: https://www.nasa.gov/news-release/after-three-years-on-mars-nasas-ingenuity-helicopter-mission-ends/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https://newtonlicciardijr.github.io/drones/episodios/01-muito-alem-do-voo.html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01: O drone é só uma parte do sistema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 1 • fundamentos, missão e aplicações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Também não existe missão feita só pela aeronave. Bateria, rádio, controle, armazenamento e equipe precisam funcionar juntos. O observador participa da segurança, e o piloto precisa saber quando interromper.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Nossa régua será simples: requisito, sensor, evidência e decisão. Se a ligação entre eles estiver fraca, é hora de revisar a missão. Tecnologia cara não conserta uma pergunta mal formulada.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Vamos usar um exemplo curto: registrar uma área delimitada. Antes do voo, mostramos a imagem esperada, verificamos se podemos operar no local e combinamos o que nos faria 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Exibir uma fotografia já disponível e perguntar qual decisão ela permite.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Colocar aeronave desligada, controle e bateria sobre a bancada; identificar componentes.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Desenhar no quadro a cadeia requisito → sensor → dado → interpretação → decisão.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Mini 4 Pro — especificações [Fabricante]: https://www.dji.com/mini-4-pro/specs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Systems • Hermes 900 [Fabricante]: https://www.elbitsystems.com/autonomous/aerial/male-unmanned-aircraft-systems/hermes-900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NASA • encerramento da missão Ingenuity [Agência de pesquisa]: https://www.nasa.gov/news-release/after-three-years-on-mars-nasas-ingenuity-helicopter-mission-ends/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https://newtonlicciardijr.github.io/drones/episodios/01-muito-alem-do-voo.html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01: O drone é só uma parte do sistema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 1 • fundamentos, missão e aplicações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Essa lógica serve também para parceiros da universidade: começa na necessidade e termina em uma entrega verificável. O voo é o caminho para obter informação.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No próximo episódio, abriremos a aeronave conceitualmente: como quatro motores, sensores e uma controladora mantêm tudo isso no 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Inspeção pede detalhe e localização; vegetação pede padrão e validação; divulgação pede composição visual e autorização de uso de imagem. Não presumir que uma câmera atende igualmente às três.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Mini 4 Pro — especificações [Fabricante]: https://www.dji.com/mini-4-pro/specs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Systems • Hermes 900 [Fabricante]: https://www.elbitsystems.com/autonomous/aerial/male-unmanned-aircraft-systems/hermes-900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NASA • encerramento da missão Ingenuity [Agência de pesquisa]: https://www.nasa.gov/news-release/after-three-years-on-mars-nasas-ingenuity-helicopter-mission-ends/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https://newtonlicciardijr.github.io/drones/episodios/01-muito-alem-do-voo.html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02: Como um drone voa e se orienta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 2 • comandos, simulador e hover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Como quatro hélices mantêm uma aeronave parada? A resposta passa por força, torque e correção contínua. Um drone estabilizado parece quieto, mas o sistema de controle está trabalhando o tempo todo.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Antes de ligar qualquer motor, vamos identificar frente, hélices e comandos. Usaremos uma aeronave desligada e a tela do simulador. Aqui, o aprendizado não depende de hélices girando perto da bancada.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Para subir, o conjunto precisa produzir força vertical suficiente. Para deslocar, a aeronave inclina e passa a ter uma componente horizontal. Rolagem, arfagem e guinada descrevem movimentos de orientação.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 um quadricóptero, empuxo total e distribuição entre motores participam dos movimentos. Inclinar a aeronave produz uma componente horizontal da força. Atitude descreve orientação; posição descreve onde ela está.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controladora combina medições, estima o estado e comanda atuadores. Uma leitura de sensor possui ruído e limitações. A estabilidade que o operador observa resulta de correções repetidas e não de uma capacidade de equilíbrio independente do controle.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Phantom 4 — suporte e especificações [Fabricante]: https://www.dji.com/support/product/phantom-4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Mini 4 Pro — especificações [Fabricante]: https://www.dji.com/mini-4-pro/specs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Teledyne FLIR • Black Hornet 4 [Fabricante]: https://defense.flir.com/defense-products/black-hornet-4-prs/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PX4 • documentação de simulação [Documentação técnica]: https://docs.px4.io/main/en/simulation/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https://newtonlicciardijr.github.io/drones/episodios/02-como-um-drone-voa.html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02: Como um drone voa e se orienta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 2 • comandos, simulador e hover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No controle, trocar a referência entre a frente do drone e a frente do piloto costuma confundir iniciantes. Por isso, começamos com movimentos curtos e orientação bem definida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Giroscópio e acelerômetro ajudam a estimar a dinâmica; outros recursos participam da posição e navegação. O GNSS não é a mesma coisa que internet, e sensores visuais dependem do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Um Phantom 4 permite discutir essas camadas com um equipamento conhecido. Vamos observar telemetria, separar posição de atitude e comparar a resposta a pequenos comandos simulados.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 hélices energizadas, apontar sentido e função dos rotores.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simulador, executar subida, rolagem, arfagem e guinada separadamente.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 telemetria e pedir que a turma identifique uma grandeza de atitude e uma de posição.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Phantom 4 — suporte e especificações [Fabricante]: https://www.dji.com/support/product/phantom-4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Mini 4 Pro — especificações [Fabricante]: https://www.dji.com/mini-4-pro/specs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Teledyne FLIR • Black Hornet 4 [Fabricante]: https://defense.flir.com/defense-products/black-hornet-4-prs/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PX4 • documentação de simulação [Documentação técnica]: https://docs.px4.io/main/en/simulation/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https://newtonlicciardijr.github.io/drones/episodios/02-como-um-drone-voa.html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02: Como um drone voa e se orienta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 2 • comandos, simulador e hover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O objetivo é entender a cadeia medir, estimar, agir e conferir. Esse raciocínio reaparece em robótica, automação e sistemas embarcados.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Quando a aeronave parece estável, ainda precisamos manter atenção. A assistência facilita a operação, mas não substitui o conhecimento de seus limites.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A componente vertical é T·cos(θ). Ao inclinar, parte da força atua horizontalmente; o controle pode compensar elevando o empuxo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Phantom 4 — suporte e especificações [Fabricante]: https://www.dji.com/support/product/phantom-4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Mini 4 Pro — especificações [Fabricante]: https://www.dji.com/mini-4-pro/specs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Teledyne FLIR • Black Hornet 4 [Fabricante]: https://defense.flir.com/defense-products/black-hornet-4-prs/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PX4 • documentação de simulação [Documentação técnica]: https://docs.px4.io/main/en/simulation/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https://newtonlicciardijr.github.io/drones/episodios/02-como-um-drone-voa.html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03: Quem autoriza o quê no Brasil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3–4 • regras e enquadramento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Meu drone pesa pouco. Posso voar em qualquer lugar? Não. O peso é uma informação relevante, mas a missão também envolve finalidade, pessoas, espaço aéreo e equipamentos de comunicação.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Na preparação, consultamos o enquadramento e as condições reais. Uma autorização pendente não é um sinal verde. E o desbloqueio de uma restrição no aplicativo não substitui uma autorização pública.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Vamos abrir as fontes oficiais. A ANAC publicou as Resoluções 805 e 806 em junho de 2026. O DECEA tem sua regulamentação de acesso ao espaço aéreo. A ANATEL participa pela conformidade dos equipamentos.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Resolução 805/2026 aprovou o RBAC 100 em substituição ao RBAC-E 94 e incluiu disposições de transição. A Resolução 806/2026 trata de UA até 250 g e aeromodelos nas condições de seu texto. São referências de enquadramento, e não uma autorização individual de missão.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trata de acesso ao espaço aéreo; ANATEL trata da conformidade de produtos e telecomunicações. A norma aplicável, o manual, o local e as condições da autorização precisam ser compatíveis. Este episódio ensina o percurso de consulta, sem resumir toda a regulamentação em uma regra de peso.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• Resolução 805/2026 [Norma]: https://www.anac.gov.br/assuntos/legislacao/legislacao-1/resolucoes/2026/resolucao-805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• Resolução 806/2026 [Norma]: https://www.anac.gov.br/assuntos/legislacao/legislacao-1/resolucoes/2026/resolucao-806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ICA 100-40/2026 [Norma]: https://www.gov.br/defesa/pt-br/assuntos/aerolevantamento/arquivos/2026/ica-100-40-publicada-port-2094-dnor8-18-03-2026-bca-058-30-03-2026.pdf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Portal Drone UAS [Órgão público]: https://www.decea.mil.br/drone/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ANATEL • certificação de produtos [Órgão público]: https://www.gov.br/anatel/pt-br/regulado/certificacao-de-produtos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https://newtonlicciardijr.github.io/drones/episodios/03-regras-e-responsabilidades.html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e DECEA reconferidos em 13/10/2026. Resolução 806 e acervo oficial ANAC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03: Quem autoriza o quê no Brasil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3–4 • regras e enquadramento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O exercício será identificar o documento e a responsabilidade, não decorar uma lista sem contexto. Qual norma se aplica à aeronave? Qual condição se aplica ao local? O que precisa estar disponível à equipe?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Regras de transição também contam. Não se deve apresentar um prazo como permanente. Ao gravar ou atualizar esta série, conferimos novamente os textos oficiais.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Na prática do curso, trabalhamos com uma missão curta e supervisionada. Se o cenário exigir sair do enquadramento previsto, reformulamos a missão ou encaminhamos a análise adequada.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Resoluções 805 e 806 e mostrar título, data e aplicabilidade.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Apresentar uma autorização fictícia claramente marcada, sem simular documento oficial.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Relacionar três pendências a seus responsáveis: enquadramento, espaço aéreo e homologação.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• Resolução 805/2026 [Norma]: https://www.anac.gov.br/assuntos/legislacao/legislacao-1/resolucoes/2026/resolucao-805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• Resolução 806/2026 [Norma]: https://www.anac.gov.br/assuntos/legislacao/legislacao-1/resolucoes/2026/resolucao-806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ICA 100-40/2026 [Norma]: https://www.gov.br/defesa/pt-br/assuntos/aerolevantamento/arquivos/2026/ica-100-40-publicada-port-2094-dnor8-18-03-2026-bca-058-30-03-2026.pdf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Portal Drone UAS [Órgão público]: https://www.decea.mil.br/drone/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ANATEL • certificação de produtos [Órgão público]: https://www.gov.br/anatel/pt-br/regulado/certificacao-de-produtos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https://newtonlicciardijr.github.io/drones/episodios/03-regras-e-responsabilidades.html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e DECEA reconferidos em 13/10/2026. Resolução 806 e acervo oficial ANAC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03: Quem autoriza o quê no Brasil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3–4 • regras e enquadramento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O alcance que aparece no catálogo mostra uma capacidade de comunicação em condições de teste. Ele não concede direito de voar a essa distância.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O checklist começa antes da decolagem. O resultado pode ser GO, NO-GO ou migração para simulação. Saber decidir é parte da formação.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Não. Capacidade do enlace não resolve enquadramento da operação, espaço aéreo, terceiros, manual e condições de autorização.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• Resolução 805/2026 [Norma]: https://www.anac.gov.br/assuntos/legislacao/legislacao-1/resolucoes/2026/resolucao-805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• Resolução 806/2026 [Norma]: https://www.anac.gov.br/assuntos/legislacao/legislacao-1/resolucoes/2026/resolucao-806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ICA 100-40/2026 [Norma]: https://www.gov.br/defesa/pt-br/assuntos/aerolevantamento/arquivos/2026/ica-100-40-publicada-port-2094-dnor8-18-03-2026-bca-058-30-03-2026.pdf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Portal Drone UAS [Órgão público]: https://www.decea.mil.br/drone/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ANATEL • certificação de produtos [Órgão público]: https://www.gov.br/anatel/pt-br/regulado/certificacao-de-produtos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https://newtonlicciardijr.github.io/drones/episodios/03-regras-e-responsabilidades.html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e DECEA reconferidos em 13/10/2026. Resolução 806 e acervo oficial ANAC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04: Qual drone combina com a missão?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6 • aplicações e aeronave pronta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Qual é o melhor drone? Sem a missão, essa pergunta fica incompleta. Vamos substituir ranking por requisito: o que precisa ser observado, com que detalhe e em qual ambiente?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Para começar a treinar, posso usar um equipamento disponível e apto. Para mapear uma área extensa ou entrar em um espaço confinado, eu preciso de outra arquitetura e de outra preparação.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O quadricóptero consegue permanecer em um ponto. A asa fixa obtém sustentação em cruzeiro pelas asas. Um VTOL precisa lidar com decolagem vertical e voo de cruzeiro. Cada solução cobra seu preço em complexidade.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 multirrotor pode permanecer em um ponto; uma asa fixa favorece deslocamento sustentado; um VTOL combina fases de voo com complexidades próprias. A escolha deve considerar decolagem, pouso, área, sensores, equipe, manutenção e produto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Tempo máximo de voo não deve ser tratado como tempo útil de missão. Acessórios mudam massa e consumo. Um equipamento já existente pode atender ao objetivo introdutório, desde que esteja apto e sua informação seja 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Phantom 4 — suporte e especificações [Fabricante]: https://www.dji.com/support/product/phantom-4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Mavic 3 Enterprise Series [Fabricante]: https://enterprise.dji.com/mavic-3-enterprise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Elios 3 [Fabricante]: https://www.flyability.com/elios-3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Wingtra • WingtraRAY [Fabricante]: https://wingtra.com/ray/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Xmobots • Nauru 500C ISR [Fabricante brasileiro]: https://xmobots.com.br/produto/nauru-500c-isr/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https://newtonlicciardijr.github.io/drones/episodios/04-escolher-o-drone.html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04: Qual drone combina com a missão?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6 • aplicações e aeronave pronta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Também precisamos verificar o ambiente. Vento, obstáculos, acesso, área de pouso, pessoas e capacidade da equipe participam da seleção. Um drone de inspeção interna não é uma versão universal de um drone de filmagem.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No catálogo, vamos olhar missão, sensor, limite e fonte. Megapixels, sozinhos, não dizem a qualidade de um mapa, de um diagnóstico ou de uma identificação.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Vamos comparar o Phantom 4, o Mavic 3E e o Elios 3 com três tarefas. A ideia é justificar a adequação, sem produzir uma recomendação de compra fora do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Usar as fichas do catálogo e selecionar três plataformas para três tarefas.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Preencher matriz com sensor, ambiente, equipe, autonomia útil e validação.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 por que o maior número de câmera ou alcance pode ser irrelevante para a pergunta.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Phantom 4 — suporte e especificações [Fabricante]: https://www.dji.com/support/product/phantom-4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Mavic 3 Enterprise Series [Fabricante]: https://enterprise.dji.com/mavic-3-enterprise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Elios 3 [Fabricante]: https://www.flyability.com/elios-3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Wingtra • WingtraRAY [Fabricante]: https://wingtra.com/ray/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Xmobots • Nauru 500C ISR [Fabricante brasileiro]: https://xmobots.com.br/produto/nauru-500c-isr/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https://newtonlicciardijr.github.io/drones/episodios/04-escolher-o-drone.html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04: Qual drone combina com a missão?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6 • aplicações e aeronave pronta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Incluímos ainda exemplos brasileiros, como o Nauru 500C ISR. O interesse é entender integração tecnológica e configuração, evitando transferir autorizações de uma plataforma para qualquer operador.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A escolha final precisa mostrar o que o sistema entrega e onde ele deixa de atender. Conhecer esse limite é tão útil quanto conhecer uma função nova.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Não necessariamente. Os requisitos de proteção, localização, permanência e cobertura apontam para escolhas especializadas.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Phantom 4 — suporte e especificações [Fabricante]: https://www.dji.com/support/product/phantom-4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Mavic 3 Enterprise Series [Fabricante]: https://enterprise.dji.com/mavic-3-enterprise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Elios 3 [Fabricante]: https://www.flyability.com/elios-3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Wingtra • WingtraRAY [Fabricante]: https://wingtra.com/ray/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Xmobots • Nauru 500C ISR [Fabricante brasileiro]: https://xmobots.com.br/produto/nauru-500c-isr/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https://newtonlicciardijr.github.io/drones/episodios/04-escolher-o-drone.html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05: GO ou NO-GO: a decisão antes de decolar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5 e 8–9 • risco, missão curta e pré-voo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É possível pilotar bem e tomar uma decisão ruim antes do voo. Hoje vamos olhar para o que deve acontecer ainda em solo: objetivo, responsabilidades, condições e margens.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Eu começo pelo briefing. Quem está no comando? Onde está o observador? Qual é o limite da área? Onde vamos pousar? O que nos fará interromper? Todos precisam compreender as mesmas respostas.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Na energia, uma conta simples ajuda a pensar. Energia dividida por potência estima um tempo, mas não reproduz automaticamente o consumo real da aeronave. Vento, carga e manobras mudam o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briefing estabelece objetivo, papéis, local, condição de retorno e comunicação. Um checklist é útil quando os itens são verificáveis. Escrever apenas “clima OK” esconde a ausência de um critério.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sintético: bateria entrega 80 Wh úteis em um cenário estimado, com potência média de 240 W. A razão E/P dá 20 min. Reservar 25% nesse exercício deixa 15 min antes de descontar deslocamento. A reserva é hipótese pedagógica; operação real segue manual, ensaio e avaliação do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Phantom 4 — suporte e especificações [Fabricante]: https://www.dji.com/support/product/phantom-4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Portal Drone UAS [Órgão público]: https://www.decea.mil.br/drone/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• Resolução 805/2026 [Norma]: https://www.anac.gov.br/assuntos/legislacao/legislacao-1/resolucoes/2026/resolucao-805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https://newtonlicciardijr.github.io/drones/episodios/05-planejar-e-decidir.html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05: GO ou NO-GO: a decisão antes de decolar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5 e 8–9 • risco, missão curta e pré-voo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Por isso, o número do catálogo não vira cronômetro da missão. A equipe considera retorno e contingência. Quando a margem deixa de ser suficiente, a tarefa pode terminar antes da imagem desejada.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Vamos usar valores fictícios e explicitar a hipótese. A conta serve para aprender unidades e margens. Não é uma prescrição de bateria para todo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O GO exige itens realmente conferidos. Se uma pessoa entrar na área, uma condição mudar ou surgir tráfego, a decisão precisa ser reavaliada. O checklist não congela o mundo.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Preencher a ficha de missão disponível em Materiais.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Calcular 80/240 h e discutir reserva e deslocamento.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Introduzir uma pendência fictícia e pedir nova decisão GO/NO-GO.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Phantom 4 — suporte e especificações [Fabricante]: https://www.dji.com/support/product/phantom-4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Portal Drone UAS [Órgão público]: https://www.decea.mil.br/drone/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• Resolução 805/2026 [Norma]: https://www.anac.gov.br/assuntos/legislacao/legislacao-1/resolucoes/2026/resolucao-805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https://newtonlicciardijr.github.io/drones/episodios/05-planejar-e-decidir.html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05: GO ou NO-GO: a decisão antes de decolar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5 e 8–9 • risco, missão curta e pré-voo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Existe ainda o risco da pressão por gravar. A câmera não deve definir a segurança da operação. Na produção desta série, podemos substituir a prática por simulação sem perder o aprendizado.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Vamos mostrar um briefing curto, apontar uma pendência e decidir juntos. A resposta técnica pode ser NO-GO. Isso é competência, não fracasso.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Dos 15 min após a reserva didática, sobram 11 min. A estimativa não substitui medição de consumo nem limites do manual.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Phantom 4 — suporte e especificações [Fabricante]: https://www.dji.com/support/product/phantom-4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Portal Drone UAS [Órgão público]: https://www.decea.mil.br/drone/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ANAC • Resolução 805/2026 [Norma]: https://www.anac.gov.br/assuntos/legislacao/legislacao-1/resolucoes/2026/resolucao-805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https://newtonlicciardijr.github.io/drones/episodios/05-planejar-e-decidir.html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06: Da câmera ao dado confiável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 11 • objetivo, coleta e evidência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Uma imagem bonita pode ser um dado ruim para uma medida. Hoje vamos trocar a pergunta “qual câmera tem mais pixels?” por “qual variável precisa ser observada?”.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Eu começo com uma imagem RGB e uma imagem térmica. A primeira mostra aparência; a segunda traz outro tipo de informação. A interpretação muda, e o contexto da captura precisa acompanhar os arquivos.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LiDAR entra pela geometria. Multispectral entra por bandas específicas. Nenhum sensor transforma sozinho uma observação em diagnóstico. É preciso método e uma verificação adequada.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RGB registra aparência em bandas visíveis; imagem térmica permite examinar padrões de temperatura aparente; multispectral observa bandas específicas; LiDAR mede distâncias para representar geometria. Essas informações podem se complementar, mas não são intercambiáveis.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medida exige referência, unidade, método e incerteza. GSD é a amostragem no solo em um modelo geométrico; não é o erro final de posição. Preservar data, parâmetros e contexto permite avaliar se uma comparação é válida.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Mavic 3 Enterprise Series [Fabricante]: https://enterprise.dji.com/mavic-3-enterprise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Elios 3 [Fabricante]: https://www.flyability.com/elios-3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Matrice 400 [Fabricante]: https://enterprise.dji.com/matrice-400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https://newtonlicciardijr.github.io/drones/episodios/06-camera-ao-dado.html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06: Da câmera ao dado confiável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 11 • objetivo, coleta e evidência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Na coleta, também registramos configurações, horário e posição. Se duas campanhas forem feitas em condições incompatíveis, o resultado pode parecer mudança no objeto quando é mudança na aquisição.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Vamos calcular um GSD com números sintéticos. A fórmula relaciona altura, tamanho do pixel e distância focal. O resultado descreve amostragem e não garante a exatidão do mapa.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Para validar, precisamos de referências independentes e de critérios. Não basta que o software tenha concluído o processamento e produzido uma imagem convincente.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 os tipos de sensor com as fichas verificadas do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Resolver o exemplo de GSD do caso Mapeamento.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Organizar três arquivos fictícios com nome, data, contexto e critério de validação.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Mavic 3 Enterprise Series [Fabricante]: https://enterprise.dji.com/mavic-3-enterprise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Elios 3 [Fabricante]: https://www.flyability.com/elios-3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Matrice 400 [Fabricante]: https://enterprise.dji.com/matrice-400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https://newtonlicciardijr.github.io/drones/episodios/06-camera-ao-dado.html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06: Da câmera ao dado confiável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 11 • objetivo, coleta e evidência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Essa é a diferença entre produzir dados e produzir evidência: outra pessoa deve conseguir compreender o método e os limites da conclusão.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Ao final, cada arquivo será acompanhado de uma pequena ficha. Parece detalhe, mas é o que permite usar a informação depois que o voo terminou.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Não. GSD e exatidão descrevem aspectos distintos. A estimativa do erro exige validação do produto e de seu referencial.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Mavic 3 Enterprise Series [Fabricante]: https://enterprise.dji.com/mavic-3-enterprise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Elios 3 [Fabricante]: https://www.flyability.com/elios-3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Matrice 400 [Fabricante]: https://enterprise.dji.com/matrice-400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https://newtonlicciardijr.github.io/drones/episodios/06-camera-ao-dado.html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07: Drones na indústria, nas obras e na energia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11 • aplicações e missão de engenharia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O drone pode aproximar um sensor de um ativo de difícil acesso. Mas a manutenção não precisa só de imagens: precisa saber qual ativo, qual ponto e qual decisão pode ser sustentada.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Em uma inspeção, eu preparo o percurso de aquisição e a identificação dos registros. Se houver uma observação relevante, ela precisa aparecer em um relatório que outra equipe consiga localizar.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Nos ambientes internos, a localização pode depender de recursos como SLAM. Na termografia, a interpretação depende das condições da superfície e da captura. São problemas tecnológicos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 manutenção, a coleta deve identificar o ativo e permitir localizar a observação. Uma imagem de possível corrosão precisa de escala, contexto e encaminhamento. A decisão pertence ao processo técnico de inspeção.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caso Flyability/TotalEnergies permite discutir inspeção interna; o cenário solar permite discutir interpretação térmica. A vantagem proposta é obter informação com exposição controlada, mantendo claro o que o método consegue confirmar.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inspeção de petróleo e gás [Caso de fabricante]: https://www.flyability.com/oil-and-gas-drones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Elios 3 [Fabricante]: https://www.flyability.com/elios-3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Mavic 3 Enterprise Series [Fabricante]: https://enterprise.dji.com/mavic-3-enterprise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https://newtonlicciardijr.github.io/drones/episodios/07-inspecao-e-energia.html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07: Drones na indústria, nas obras e na energia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11 • aplicações e missão de engenharia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Usaremos o caso documentado de FPSOs e um cenário solar fictício. Vamos marcar claramente o que a fonte relata e o que é análise pedagógica nossa.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Um ponto quente pode indicar uma hipótese. Uma imagem de uma área corroída pode orientar outra inspeção. Não devemos pular da observação para uma conclusão que o sensor não sustenta.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O relatório que vamos montar terá imagem, identificação, contexto, limitação e próximo passo. Sem isso, o cliente pode receber muitos arquivos e pouca informação útil.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o caso FPSOs e identificar o tipo de fonte.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Montar um registro de inspeção com imagem demonstrativa.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Separar em três colunas observação, hipótese e confirmação necessária.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inspeção de petróleo e gás [Caso de fabricante]: https://www.flyability.com/oil-and-gas-drones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Elios 3 [Fabricante]: https://www.flyability.com/elios-3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Mavic 3 Enterprise Series [Fabricante]: https://enterprise.dji.com/mavic-3-enterprise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https://newtonlicciardijr.github.io/drones/episodios/07-inspecao-e-energia.html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07: Drones na indústria, nas obras e na energia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11 • aplicações e missão de engenharia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É aqui que a engenharia conecta a aquisição ao processo da empresa. Equipamento, procedimento e julgamento profissional precisam conversar.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O resultado do exercício será uma ficha de inspeção, sem ensaio em instalação real. Depois, a equipe decide quais condições seriam necessárias para uma aplicação de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Registrar a observação com contexto e sugerir confirmação adequada. Não afirmar causa específica sem evidência adicional.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inspeção de petróleo e gás [Caso de fabricante]: https://www.flyability.com/oil-and-gas-drones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Flyability • Elios 3 [Fabricante]: https://www.flyability.com/elios-3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Mavic 3 Enterprise Series [Fabricante]: https://enterprise.dji.com/mavic-3-enterprise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https://newtonlicciardijr.github.io/drones/episodios/07-inspecao-e-energia.html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08: Drones no campo e no meio ambiente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11 • aplicações e evidência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Um mapa colorido de vegetação parece dizer tudo. Na verdade, ele responde a uma pergunta limitada, construída com bandas, índices e contexto. Vamos aprender a ler essa resposta sem exagerar a conclusão.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Antes da coleta, eu preciso saber que área, que cultura ou que mudança será analisada. Uma fotografia solta não permite comparar épocas com confiança.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No exemplo sintético de NDVI, usamos valores já fornecidos. O cálculo é simples; o desafio é entender o significado. Um valor não identifica sozinho praga, falta de água ou qualquer causa específica.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drone pode revelar padrões espaciais que são difíceis de observar ao nível do solo. Porém, a interpretação precisa de contexto e amostras de referência. A cor de um mapa é uma representação produzida por um método.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 agricultura, mapear vigor e aplicar insumos são atividades distintas. Em ambiente, comparar erosão, cobertura ou margem de curso d’água pede consistência temporal, geométrica e de método. O exercício não autoriza intervenção, voo em área protegida nem aplicação de produtos.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Agras T50 — especificações [Fabricante]: https://ag.dji.com/t50/specs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Wingtra • WingtraRAY [Fabricante]: https://wingtra.com/ray/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Xmobots • Nauru 500C ISR [Fabricante brasileiro]: https://xmobots.com.br/produto/nauru-500c-isr/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https://newtonlicciardijr.github.io/drones/episodios/08-campo-e-ambiente.html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08: Drones no campo e no meio ambiente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11 • aplicações e evidência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Também vamos separar mapear de aplicar. O Agras é uma plataforma de trabalho aeroagrícola. Isso não quer dizer que seja apropriado para nossa demonstração introdutória.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No meio ambiente, uma série temporal consistente pode ajudar a observar mudanças. O método deve distinguir mudança real, diferença de luz, posição e processamento.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Nossa atividade será feita com imagens e dados simulados. A verificação de campo entra no plano, e a atuação real precisa de profissionais e condições adequadas.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Resolver o NDVI sintético do caso Agricultura.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Comparar duas imagens de datas e condições distintas; identificar limitações.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Propor um plano de validação em solo sem executar aplicação agrícola.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Agras T50 — especificações [Fabricante]: https://ag.dji.com/t50/specs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Wingtra • WingtraRAY [Fabricante]: https://wingtra.com/ray/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Xmobots • Nauru 500C ISR [Fabricante brasileiro]: https://xmobots.com.br/produto/nauru-500c-isr/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https://newtonlicciardijr.github.io/drones/episodios/08-campo-e-ambiente.html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08: Drones no campo e no meio ambiente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11 • aplicações e evidência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O dado aéreo ganha valor quando se conecta a uma decisão e a uma validação. Esse vínculo evita que uma visualização atraente seja confundida com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No próximo episódio, olharemos para situações em que a informação precisa chegar rápido: emergências e resgate.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Não. É preciso controlar aquisição, referencial e processamento antes de interpretar a diferença.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DJI • Agras T50 — especificações [Fabricante]: https://ag.dji.com/t50/specs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Wingtra • WingtraRAY [Fabricante]: https://wingtra.com/ray/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Xmobots • Nauru 500C ISR [Fabricante brasileiro]: https://xmobots.com.br/produto/nauru-500c-isr/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https://newtonlicciardijr.github.io/drones/episodios/08-campo-e-ambiente.html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09: Drones em emergências e serviços públicos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5 e 8–10 • pessoas, comunicação e contingências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Em uma emergência, ver de cima pode ajudar. Mas ajudar exige coordenação: a equipe em solo precisa receber informação certa, no tempo certo e com a incerteza conhecida.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Um vídeo não resolve tudo. Eu preciso indicar posição, horário e o que foi observado. Também preciso saber a quem entregar a informação e quem vai confirmá-la.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O caso das enchentes no Rio Grande do Sul mostra o emprego de um sistema de vigilância em apoio ao resgate. É um uso que conecta tecnologia militar e uma necessidade humanitária.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 emergências, informação útil inclui horário, localização, significado e confiança. Uma transmissão de vídeo sem contexto pode gerar decisões erradas. A imagem precisa entrar em uma cadeia de coordenação.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emprego histórico do RQ-900 pela FAB no Rio Grande do Sul serve à discussão do apoio informacional. Não é convite a deslocar drones particulares para cenários de resgate. Interferir no trabalho aéreo de emergência pode aumentar a exposição de quem precisa de ajuda.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FAB • apoio às vítimas das enchentes no RS [Órgão público]: https://www.fab.mil.br/noticias/imprime/42589/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Systems • Hermes 900 [Fabricante]: https://www.elbitsystems.com/autonomous/aerial/male-unmanned-aircraft-systems/hermes-900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Portal Drone UAS [Órgão público]: https://www.decea.mil.br/drone/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https://newtonlicciardijr.github.io/drones/episodios/09-resgate-e-servicos.html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09: Drones em emergências e serviços públicos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5 e 8–10 • pessoas, comunicação e contingências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A operação ocorreu em uma estrutura coordenada. Um participante desta série não deve interpretar o caso como autorização para lançar seu drone numa área de desastre.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Na imagem térmica, uma assinatura pode sugerir algo que merece verificação. Detecção, classificação e identificação têm níveis de certeza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No exercício, usaremos um mapa fictício e três observações. Vamos elaborar mensagens curtas com localização e confiança, sem expor pessoas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Usar o caso histórico da FAB, com data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Montar uma mensagem de observação com horário, posição e confiança.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Simular coordenação em mesa, sem voos em cenário de emergência.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FAB • apoio às vítimas das enchentes no RS [Órgão público]: https://www.fab.mil.br/noticias/imprime/42589/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Systems • Hermes 900 [Fabricante]: https://www.elbitsystems.com/autonomous/aerial/male-unmanned-aircraft-systems/hermes-900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Portal Drone UAS [Órgão público]: https://www.decea.mil.br/drone/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https://newtonlicciardijr.github.io/drones/episodios/09-resgate-e-servicos.html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09: Drones em emergências e serviços públicos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5 e 8–10 • pessoas, comunicação e contingências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O valor do sistema está no apoio à decisão coletiva. A melhor informação perde utilidade se chega sem referência ou ao destinatário errado.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E a segurança da aviação tripulada continua decisiva. O plano de coordenação faz parte da missão desde o início.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A segunda. Ela permite checagem, priorização e encaminhamento; uma descrição sem contexto pode induzir busca no local errado.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FAB • apoio às vítimas das enchentes no RS [Órgão público]: https://www.fab.mil.br/noticias/imprime/42589/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Systems • Hermes 900 [Fabricante]: https://www.elbitsystems.com/autonomous/aerial/male-unmanned-aircraft-systems/hermes-900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DECEA • Portal Drone UAS [Órgão público]: https://www.decea.mil.br/drone/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https://newtonlicciardijr.github.io/drones/episodios/09-resgate-e-servicos.html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10: Entrega por drone: o desafio é o serviço inteiro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7–8 e 11 • espaço aéreo, missão e dados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Quando vemos uma notícia sobre entrega por drone, normalmente pensamos no voo. Mas o cliente percebe o serviço inteiro, desde o pedido até o recebimento.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A preparação da carga, o ponto de transferência, as condições do tempo e a coordenação podem definir o resultado. Não basta desenhar uma linha curta no mapa.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O Walmart anunciou um milhão de entregas em maio de 2026. Esse número mostra volume relatado pela empresa. Para avaliar eficiência, precisamos também de custo, cancelamento, tempo total e exposição ao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entrega por drone integra infraestrutura e processo. A rota aérea pode ser curta enquanto preparação e transferência da carga dominam o tempo porta a porta. O caso Walmart é um ponto de partida para examinar a escala e perguntar pelas métricas que faltam.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Conectividade celular acrescenta questões de cobertura, latência, continuidade e dependência de infraestrutura. Pesquisas de 5G e Open RAN exploram essas relações, mas resultado experimental não é garantia universal nem autorização operacional.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Walmart • um milhão de entregas por drones [Comunicado empresarial]: https://corporate.walmart.com/news/2026/05/29/walmart-celebrates-1-million-drone-deliveries-marking-a-major-milestone-in-customer-convenience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Parrot • ANAFI Ai [Fabricante]: https://www.parrot.com/en/drones/anafi-ai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Baguer et al. • BVLOS, Open RAN e network slicing [Preprint]: https://arxiv.org/abs/2608.09481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https://newtonlicciardijr.github.io/drones/episodios/10-entregas-e-redes.html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10: Entrega por drone: o desafio é o serviço inteiro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7–8 e 11 • espaço aéreo, missão e dados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Vamos usar a notícia para formular perguntas, sem transformar o anúncio em uma promessa de que todo endereço pode receber entrega aérea.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A comunicação é outra camada. Plataformas com conexão celular e pesquisa em 5G mostram possibilidades de integração. Cobertura no mapa, porém, não garante o desempenho necessário durante toda a missão.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Na demonstração, acompanharemos etapas de uma entrega fictícia. A turma vai descobrir quais tempos são de voo e quais pertencem à operação em solo.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a notícia de 29/05/2026 e identificar métricas divulgadas.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Construir uma linha do tempo fictícia: preparo 5 min, voo 4 min, transferência 3 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Listar três riscos de depender de uma rede de comunicação.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Walmart • um milhão de entregas por drones [Comunicado empresarial]: https://corporate.walmart.com/news/2026/05/29/walmart-celebrates-1-million-drone-deliveries-marking-a-major-milestone-in-customer-convenience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Parrot • ANAFI Ai [Fabricante]: https://www.parrot.com/en/drones/anafi-ai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Baguer et al. • BVLOS, Open RAN e network slicing [Preprint]: https://arxiv.org/abs/2608.09481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https://newtonlicciardijr.github.io/drones/episodios/10-entregas-e-redes.html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10: Entrega por drone: o desafio é o serviço inteiro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7–8 e 11 • espaço aéreo, missão e dados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BVLOS é uma condição de operação, não um botão habilitado pela presença de internet. Capacidade tecnológica e aprovação precisam ser examinadas separadamente.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Ao final, teremos um quadro de avaliação de serviço. A pergunta deixa de ser “o drone consegue chegar?” e passa a incluir “a solução entrega o que promete?”.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12 min. A medida de ponta a ponta inclui preparo e transferência. Acrescentar espera e confirmação se fizerem parte do escopo.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Walmart • um milhão de entregas por drones [Comunicado empresarial]: https://corporate.walmart.com/news/2026/05/29/walmart-celebrates-1-million-drone-deliveries-marking-a-major-milestone-in-customer-convenience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Parrot • ANAFI Ai [Fabricante]: https://www.parrot.com/en/drones/anafi-ai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Baguer et al. • BVLOS, Open RAN e network slicing [Preprint]: https://arxiv.org/abs/2608.09481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https://newtonlicciardijr.github.io/drones/episodios/10-entregas-e-redes.html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11: Drones civis e militares: o que muda na engenharia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11 • aplicações, arquitetura e missão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Drones militares não formam uma única categoria tecnológica. Há equipamentos muito pequenos e aeronaves de grande permanência. Hoje vamos comparar os requisitos que explicam essa diversidade.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O Black Hornet mostra miniaturização. O Hermes 900 e o MQ-9B mostram outra escala de missão, com estação, enlaces, sensores e logística. O conjunto é bem maior que a aeronave.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MALE significa média altitude e longa permanência. Essa descrição ajuda a entender a arquitetura, mas não substitui a identificação da versão e da configuração.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 sistema de defesa pode priorizar permanência, cobertura de sensores, redundância, comunicações e logística. Um nanodrone e uma aeronave MALE resolvem problemas de escala distintos. Sua análise tecnológica não transfere procedimentos militares para o curso civil.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Vigilância e reconhecimento produzem informação. Algumas plataformas também possuem versões armadas; munições de uso único representam outra finalidade. Aqui, a discussão se limita às categorias, à engenharia pública dos sistemas e às implicações de responsabilidade e supervisão.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Teledyne FLIR • Black Hornet 4 [Fabricante]: https://defense.flir.com/defense-products/black-hornet-4-prs/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Systems • Hermes 900 [Fabricante]: https://www.elbitsystems.com/autonomous/aerial/male-unmanned-aircraft-systems/hermes-900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GA-ASI • MQ-9B SkyGuardian [Fabricante]: https://www.ga-asi.com/remotely-piloted-aircraft/mq-9b-skyguardian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Baykar • Bayraktar TB2 [Fabricante]: https://www.baykartech.com/en/uav/bayraktar-tb2/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• ecossistema de sistemas não tripulados [Artigo de fabricante]: https://www.elbitsystems.com/blog/rise-unmanned-combat-ecosystem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https://newtonlicciardijr.github.io/drones/episodios/11-drones-e-defesa.html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11: Drones civis e militares: o que muda na engenharia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11 • aplicações, arquitetura e missão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Também precisamos separar capacidade anunciada, uso documentado e interpretação. No catálogo, mantivemos essa distinção e evitamos combinar especificações de variantes.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Alguns sistemas coletam informação; outros também podem ser configurados para emprego armado. Essa diferença de finalidade exige discussão de supervisão, responsabilidade e proteção de civis.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Na bancada do curso, a atividade será comparar requisitos e sensores. Não simularemos emprego ofensivo: o objetivo é compreender engenharia e as decisões que delimitam sua aplicação.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Comparar quatro fichas: nano, VTOL brasileiro, MALE e plataforma civil.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Preencher matriz de missão, sensor, autonomia declarada, infraestrutura e responsabilidade.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Debater uma hipótese de erro de identificação sem discutir emprego de armas.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Teledyne FLIR • Black Hornet 4 [Fabricante]: https://defense.flir.com/defense-products/black-hornet-4-prs/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Systems • Hermes 900 [Fabricante]: https://www.elbitsystems.com/autonomous/aerial/male-unmanned-aircraft-systems/hermes-900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GA-ASI • MQ-9B SkyGuardian [Fabricante]: https://www.ga-asi.com/remotely-piloted-aircraft/mq-9b-skyguardian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Baykar • Bayraktar TB2 [Fabricante]: https://www.baykartech.com/en/uav/bayraktar-tb2/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• ecossistema de sistemas não tripulados [Artigo de fabricante]: https://www.elbitsystems.com/blog/rise-unmanned-combat-ecosystem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https://newtonlicciardijr.github.io/drones/episodios/11-drones-e-defesa.html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11: Drones civis e militares: o que muda na engenharia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 e 11 • aplicações, arquitetura e missão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A notícia sobre ecossistemas não tripulados permite falar de integração em rede. Como é um texto de fabricante, suas afirmações são ponto de partida para análise, não conclusão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A ponte com as aplicações civis está em energia, confiabilidade, sensores e comunicação. A finalidade e o enquadramento operacional continuam próprios de cada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A relação sistêmica. Tamanho ajuda a caracterizar a plataforma, mas não informa sozinho a utilidade da missão nem a qualidade da evidência.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Teledyne FLIR • Black Hornet 4 [Fabricante]: https://defense.flir.com/defense-products/black-hornet-4-prs/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Systems • Hermes 900 [Fabricante]: https://www.elbitsystems.com/autonomous/aerial/male-unmanned-aircraft-systems/hermes-900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GA-ASI • MQ-9B SkyGuardian [Fabricante]: https://www.ga-asi.com/remotely-piloted-aircraft/mq-9b-skyguardian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Baykar • Bayraktar TB2 [Fabricante]: https://www.baykartech.com/en/uav/bayraktar-tb2/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Elbit • ecossistema de sistemas não tripulados [Artigo de fabricante]: https://www.elbitsystems.com/blog/rise-unmanned-combat-ecosystem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https://newtonlicciardijr.github.io/drones/episodios/11-drones-e-defesa.html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12: Autonomia, IA e o próximo voo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1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10–12 • contingências, operação integrada e debrief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O próximo passo dos drones envolve autonomia e inteligência embarcada. Mas antes de aumentar a complexidade, precisamos perguntar: como vamos verificar que o sistema responde bem ao que não esperávamos?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Começamos pela simulação. Com ferramentas compatíveis, podemos observar missões, telemetria e respostas a condições de teste sem colocar uma aeronave real no espaço aéreo.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Automatizar uma sequência não é o mesmo que adaptar decisões. Se a percepção falhar, o sistema precisa reconhecer sua limitação e responder dentro de condições previstas.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 de apoio: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missão por pontos programados automatiza uma sequência; autonomia inclui adaptar decisões dentro de limites. Em ambos os casos, a confiabilidade precisa ser avaliada. IA pode auxiliar detecção, mas resultados variam com contexto e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Ingenuity oferece um caso de processamento embarcado e investigação de falha. PX4 e QGroundControl permitem estudar missões em ambiente simulado. A prova de conceito deve explicitar hipótese, condições de teste, resultados e limite do que foi demonstrado.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NASA • encerramento da missão Ingenuity [Agência de pesquisa]: https://www.nasa.gov/news-release/after-three-years-on-mars-nasas-ingenuity-helicopter-mission-ends/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NASA • investigação do último voo do Ingenuity [Agência de pesquisa]: https://www.nasa.gov/missions/mars-2020-perseverance/ingenuity-helicopter/nasa-performs-first-aircraft-accident-investigation-on-another-world/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PX4 • documentação de simulação [Documentação técnica]: https://docs.px4.io/main/en/simulation/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QGroundControl • guia de uso [Documentação técnica]: https://docs.qgroundcontrol.com/master/en/qgc-user-guide/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Baguer et al. • BVLOS, Open RAN e network slicing [Preprint]: https://arxiv.org/abs/2608.09481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https://newtonlicciardijr.github.io/drones/episodios/12-autonomia-e-futuro.html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12: Autonomia, IA e o próximo voo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2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10–12 • contingências, operação integrada e debrief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No exercício, vamos registrar o que esperávamos, o que ocorreu e o que pode ser concluído. Um teste que funciona uma vez não valida todos os cenários.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O caso do Ingenuity mostra o valor de investigar falhas. A narrativa inicial de um acidente não substitui a análise posterior dos dados. É preciso revisar hipóteses conforme a evidência.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Também faremos um debrief. Qual etapa consumiu mais tempo? Qual informação faltou? O que seria necessário antes de uma próxima missão? Essas respostas viram melhoria de procedimento.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Demonstração: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 a documentação oficial de SITL e QGroundControl.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Executar apenas em simulador uma missão simples de referência; registrar a versão usada.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Preencher debrief: hipótese, resultado, limitações e próxima verificação.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NASA • encerramento da missão Ingenuity [Agência de pesquisa]: https://www.nasa.gov/news-release/after-three-years-on-mars-nasas-ingenuity-helicopter-mission-ends/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NASA • investigação do último voo do Ingenuity [Agência de pesquisa]: https://www.nasa.gov/missions/mars-2020-perseverance/ingenuity-helicopter/nasa-performs-first-aircraft-accident-investigation-on-another-world/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PX4 • documentação de simulação [Documentação técnica]: https://docs.px4.io/main/en/simulation/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QGroundControl • guia de uso [Documentação técnica]: https://docs.qgroundcontrol.com/master/en/qgc-user-guide/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Baguer et al. • BVLOS, Open RAN e network slicing [Preprint]: https://arxiv.org/abs/2608.09481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https://newtonlicciardijr.github.io/drones/episodios/12-autonomia-e-futuro.html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Foto: NASA/JPL-Caltech/ASU/MSSS. https://www.nasa.gov/wp-content/uploads/2024/01/1-pia25968-fig-a.jpg?w=1024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Episódio 12: Autonomia, IA e o próximo voo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Tela 3 de 3. Usar as notas no modo Apresentador.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Encontros 10–12 • contingências, operação integrada e debrief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Prof. Newton: Para os engenheirandos, a série pode abrir projetos em sensores, telemetria, controle, visão e sistemas embarcados. O projeto ganha força quando a pergunta é mensurável e a validação é honesta.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Professor instrutor: Drones Muito Além do Voo termina aqui como série inicial, mas o material continua disponível para consulta. A ideia é voar com propósito, entregar evidência e aprender com cada missão.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Resposta comentada: Não. É necessário avaliar representatividade, condições de captura, erros e critérios de decisão. Um ensaio restrito sustenta uma conclusão restrita.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Encerramento: convidar o público a consultar o roteiro e registrar a evidência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(consulta editorial: 09/10/2026):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NASA • encerramento da missão Ingenuity [Agência de pesquisa]: https://www.nasa.gov/news-release/after-three-years-on-mars-nasas-ingenuity-helicopter-mission-ends/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NASA • investigação do último voo do Ingenuity [Agência de pesquisa]: https://www.nasa.gov/missions/mars-2020-perseverance/ingenuity-helicopter/nasa-performs-first-aircraft-accident-investigation-on-another-world/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PX4 • documentação de simulação [Documentação técnica]: https://docs.px4.io/main/en/simulation/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QGroundControl • guia de uso [Documentação técnica]: https://docs.qgroundcontrol.com/master/en/qgc-user-guide/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Baguer et al. • BVLOS, Open RAN e network slicing [Preprint]: https://arxiv.org/abs/2608.09481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Roteiro: https://newtonlicciardijr.github.io/drones/episodios/12-autonomia-e-futuro.html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dce57e7e3e45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88c25deda4c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be677878f43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1df98181e46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981343acf4a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1aabe4a0046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EFC118-AF48-4034-8B60-C154E33653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668295-6663-4286-A143-9BA2E1E19B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F4AD20-EFC5-48E2-85E1-C66098CA1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B5D1E5-2B16-4690-ADF9-499ECDB915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813FB4-8347-496C-8A42-13083E72FD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00F2F7-EE92-42FD-8BCE-FFF2D66B6A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FBD1E5-E20B-4C60-98CF-C91D73C77A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337EBF-79DB-492C-AF5B-EF46462F86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C2291B-6AB6-4722-A3EC-5CF4473B08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FB3B33-98A1-4A3C-9815-61431363CF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bd0cb9ece64630" /><Relationship Type="http://schemas.openxmlformats.org/officeDocument/2006/relationships/slideLayout" Target="/ppt/slideLayouts/slideLayout1.xml" Id="Rc0d8c3d1a533423d" /><Relationship Type="http://schemas.openxmlformats.org/officeDocument/2006/relationships/slideLayout" Target="/ppt/slideLayouts/slideLayout2.xml" Id="R00da6a63ae2c4ff2" /><Relationship Type="http://schemas.openxmlformats.org/officeDocument/2006/relationships/slideLayout" Target="/ppt/slideLayouts/slideLayout3.xml" Id="Rb0910fd8ef8049ad" /><Relationship Type="http://schemas.openxmlformats.org/officeDocument/2006/relationships/slideLayout" Target="/ppt/slideLayouts/slideLayout4.xml" Id="Rc404ee883e2f47c7" /><Relationship Type="http://schemas.openxmlformats.org/officeDocument/2006/relationships/slideLayout" Target="/ppt/slideLayouts/slideLayout5.xml" Id="R8c071445838842b2" /><Relationship Type="http://schemas.openxmlformats.org/officeDocument/2006/relationships/slideLayout" Target="/ppt/slideLayouts/slideLayout6.xml" Id="R4485f3f773d649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d8c3d1a533423d"/>
    <p:sldLayoutId xmlns:r="http://schemas.openxmlformats.org/officeDocument/2006/relationships" id="2147483650" r:id="R00da6a63ae2c4ff2"/>
    <p:sldLayoutId xmlns:r="http://schemas.openxmlformats.org/officeDocument/2006/relationships" id="2147483651" r:id="Rb0910fd8ef8049ad"/>
    <p:sldLayoutId xmlns:r="http://schemas.openxmlformats.org/officeDocument/2006/relationships" id="2147483652" r:id="Rc404ee883e2f47c7"/>
    <p:sldLayoutId xmlns:r="http://schemas.openxmlformats.org/officeDocument/2006/relationships" id="2147483653" r:id="R8c071445838842b2"/>
    <p:sldLayoutId xmlns:r="http://schemas.openxmlformats.org/officeDocument/2006/relationships" id="2147483654" r:id="R4485f3f773d649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fcfda51d7b451f" /><Relationship Type="http://schemas.openxmlformats.org/officeDocument/2006/relationships/notesSlide" Target="/ppt/notesSlides/notesSlide1.xml" Id="R60f76b094ba14a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33c60b9b3f4dd8" /><Relationship Type="http://schemas.openxmlformats.org/officeDocument/2006/relationships/notesSlide" Target="/ppt/notesSlides/notesSlide2.xml" Id="R08d0b5d9fda549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1851c1c0a7465a" /><Relationship Type="http://schemas.openxmlformats.org/officeDocument/2006/relationships/notesSlide" Target="/ppt/notesSlides/notesSlide3.xml" Id="R66a7856f17f244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19da6eee7454f" /><Relationship Type="http://schemas.openxmlformats.org/officeDocument/2006/relationships/notesSlide" Target="/ppt/notesSlides/notesSlide4.xml" Id="Rff37dcb5d9a94f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eb2792a0149fa" /><Relationship Type="http://schemas.openxmlformats.org/officeDocument/2006/relationships/notesSlide" Target="/ppt/notesSlides/notesSlide5.xml" Id="R7af8ad6df8654b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5100532704ec8" /><Relationship Type="http://schemas.openxmlformats.org/officeDocument/2006/relationships/notesSlide" Target="/ppt/notesSlides/notesSlide6.xml" Id="Re81e0106b69840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89275e89d4ea3" /><Relationship Type="http://schemas.openxmlformats.org/officeDocument/2006/relationships/notesSlide" Target="/ppt/notesSlides/notesSlide7.xml" Id="R567b3cd8de9f4e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e04c5ae544cd7" /><Relationship Type="http://schemas.openxmlformats.org/officeDocument/2006/relationships/notesSlide" Target="/ppt/notesSlides/notesSlide8.xml" Id="Rf7bb6b54d6f84c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a174a51cd4074" /><Relationship Type="http://schemas.openxmlformats.org/officeDocument/2006/relationships/notesSlide" Target="/ppt/notesSlides/notesSlide9.xml" Id="R8f13bdf289b145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2f16c266243f5" /><Relationship Type="http://schemas.openxmlformats.org/officeDocument/2006/relationships/notesSlide" Target="/ppt/notesSlides/notesSlide10.xml" Id="Rf1b6564e307a42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24a2764a149ce" /><Relationship Type="http://schemas.openxmlformats.org/officeDocument/2006/relationships/notesSlide" Target="/ppt/notesSlides/notesSlide11.xml" Id="R8ea847c6eecc48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b3d3db9e74526" /><Relationship Type="http://schemas.openxmlformats.org/officeDocument/2006/relationships/notesSlide" Target="/ppt/notesSlides/notesSlide12.xml" Id="R643fee9726484b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775648bba640bd" /><Relationship Type="http://schemas.openxmlformats.org/officeDocument/2006/relationships/notesSlide" Target="/ppt/notesSlides/notesSlide13.xml" Id="R9600d28cc3e341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1b356cbddc4340" /><Relationship Type="http://schemas.openxmlformats.org/officeDocument/2006/relationships/notesSlide" Target="/ppt/notesSlides/notesSlide14.xml" Id="R14ff9d0bb5c54e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b8a7151f24443" /><Relationship Type="http://schemas.openxmlformats.org/officeDocument/2006/relationships/notesSlide" Target="/ppt/notesSlides/notesSlide15.xml" Id="R2d67622594c742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e6ee561144f5a" /><Relationship Type="http://schemas.openxmlformats.org/officeDocument/2006/relationships/notesSlide" Target="/ppt/notesSlides/notesSlide16.xml" Id="Re6ca58a052d540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c98c3a03d404a" /><Relationship Type="http://schemas.openxmlformats.org/officeDocument/2006/relationships/notesSlide" Target="/ppt/notesSlides/notesSlide17.xml" Id="R0f56b12a64da4a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95e30ce8ea42c7" /><Relationship Type="http://schemas.openxmlformats.org/officeDocument/2006/relationships/notesSlide" Target="/ppt/notesSlides/notesSlide18.xml" Id="R931ffacdbeb744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910f4956c406a" /><Relationship Type="http://schemas.openxmlformats.org/officeDocument/2006/relationships/notesSlide" Target="/ppt/notesSlides/notesSlide19.xml" Id="Rad88bb9e7c4c4e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be472d0744d3a" /><Relationship Type="http://schemas.openxmlformats.org/officeDocument/2006/relationships/notesSlide" Target="/ppt/notesSlides/notesSlide20.xml" Id="R5afb9ec4b1b2462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41ba5602d54c5f" /><Relationship Type="http://schemas.openxmlformats.org/officeDocument/2006/relationships/notesSlide" Target="/ppt/notesSlides/notesSlide21.xml" Id="Rff145151b97345d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d39af72c347e3" /><Relationship Type="http://schemas.openxmlformats.org/officeDocument/2006/relationships/notesSlide" Target="/ppt/notesSlides/notesSlide22.xml" Id="R307827c4aaea497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e889724901459c" /><Relationship Type="http://schemas.openxmlformats.org/officeDocument/2006/relationships/notesSlide" Target="/ppt/notesSlides/notesSlide23.xml" Id="R72ed00cae1494a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2461329614e77" /><Relationship Type="http://schemas.openxmlformats.org/officeDocument/2006/relationships/notesSlide" Target="/ppt/notesSlides/notesSlide24.xml" Id="Redc3dad14a0b41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a7a1cfac34868" /><Relationship Type="http://schemas.openxmlformats.org/officeDocument/2006/relationships/notesSlide" Target="/ppt/notesSlides/notesSlide25.xml" Id="R3f3dbdd2de834b9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59fcb0ac642ef" /><Relationship Type="http://schemas.openxmlformats.org/officeDocument/2006/relationships/notesSlide" Target="/ppt/notesSlides/notesSlide26.xml" Id="R5baeb102e3914c0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8df6eecfa4587" /><Relationship Type="http://schemas.openxmlformats.org/officeDocument/2006/relationships/notesSlide" Target="/ppt/notesSlides/notesSlide27.xml" Id="R5972fba22b4f44c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e661f6eb8458e" /><Relationship Type="http://schemas.openxmlformats.org/officeDocument/2006/relationships/notesSlide" Target="/ppt/notesSlides/notesSlide28.xml" Id="Rcb1d37ee704d4f7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0d80dcb0640b5" /><Relationship Type="http://schemas.openxmlformats.org/officeDocument/2006/relationships/notesSlide" Target="/ppt/notesSlides/notesSlide29.xml" Id="R3b585feec18447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f2bee7b18748e4" /><Relationship Type="http://schemas.openxmlformats.org/officeDocument/2006/relationships/notesSlide" Target="/ppt/notesSlides/notesSlide30.xml" Id="R1feea95f9d1f48f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4fc0ec0844ab9" /><Relationship Type="http://schemas.openxmlformats.org/officeDocument/2006/relationships/notesSlide" Target="/ppt/notesSlides/notesSlide31.xml" Id="R8a3706f2f5d142a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87dd0b3244037" /><Relationship Type="http://schemas.openxmlformats.org/officeDocument/2006/relationships/notesSlide" Target="/ppt/notesSlides/notesSlide32.xml" Id="Rba90ed33ae41413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15d2c1eff4828" /><Relationship Type="http://schemas.openxmlformats.org/officeDocument/2006/relationships/notesSlide" Target="/ppt/notesSlides/notesSlide33.xml" Id="R3f705b3716904f3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f94994b034c21" /><Relationship Type="http://schemas.openxmlformats.org/officeDocument/2006/relationships/notesSlide" Target="/ppt/notesSlides/notesSlide34.xml" Id="R31e5455f20d343e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c751874eab45dd" /><Relationship Type="http://schemas.openxmlformats.org/officeDocument/2006/relationships/notesSlide" Target="/ppt/notesSlides/notesSlide35.xml" Id="Rb929b57904434e1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5874f6cc64ebd" /><Relationship Type="http://schemas.openxmlformats.org/officeDocument/2006/relationships/image" Target="/ppt/media/image.jpeg" Id="Rd9a8b7f6b02c449a" /><Relationship Type="http://schemas.openxmlformats.org/officeDocument/2006/relationships/notesSlide" Target="/ppt/notesSlides/notesSlide36.xml" Id="Rd92007ae21524b6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2773a2e9c4b8f" /><Relationship Type="http://schemas.openxmlformats.org/officeDocument/2006/relationships/notesSlide" Target="/ppt/notesSlides/notesSlide37.xml" Id="Rf8ee2526fdf24b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59B057AA-47CA-4ED9-80CE-0678E2A6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900" b="1">
                <a:solidFill>
                  <a:srgbClr val="F2C85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6900" b="1">
                <a:solidFill>
                  <a:srgbClr val="F2C85C"/>
                </a:solidFill>
                <a:latin typeface="DejaVu Sans"/>
                <a:ea typeface="DejaVu Sans"/>
                <a:cs typeface="DejaVu Sans"/>
              </a:defRPr>
            </a:pPr>
            <a:r>
              <a:rPr sz="6900" b="1">
                <a:solidFill>
                  <a:srgbClr val="F2C85C"/>
                </a:solidFill>
                <a:latin typeface="DejaVu Sans"/>
                <a:ea typeface="DejaVu Sans"/>
                <a:cs typeface="DejaVu Sans"/>
              </a:rPr>
              <a:t>Drones</a:t>
            </a:r>
          </a:p>
        </p:txBody>
      </p:sp>
      <p:sp>
        <p:nvSpPr>
          <p:cNvPr id="2" name="series-title">
            <a:extLst xmlns:a="http://schemas.openxmlformats.org/drawingml/2006/main">
              <a:ext uri="{FF2B5EF4-FFF2-40B4-BE49-F238E27FC236}">
                <a16:creationId xmlns:a16="http://schemas.microsoft.com/office/drawing/2014/main" id="{6F6B68A4-45A5-451B-9CA1-7A39157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Muito Além do Voo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7E91532-1ED6-47C6-B5FF-9C2D7036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Apoio visual aos 12 episódios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BEED70B9-ED14-44D8-A687-7FD2A03C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4CD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4CDD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C4CDD8"/>
                </a:solidFill>
                <a:latin typeface="DejaVu Sans"/>
                <a:ea typeface="DejaVu Sans"/>
                <a:cs typeface="DejaVu Sans"/>
              </a:rPr>
              <a:t>Prof. Newton Licciardi Jr. e professor instrutor</a:t>
            </a:r>
          </a:p>
        </p:txBody>
      </p:sp>
    </p:spTree>
    <p:extLst>
      <p:ext uri="{BB962C8B-B14F-4D97-AF65-F5344CB8AC3E}">
        <p14:creationId xmlns:p14="http://schemas.microsoft.com/office/powerpoint/2010/main" val="1155945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88C7FAF5-1C2C-4AFC-A923-0F2364C2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01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D04332DE-90E1-4579-8DEE-0CBDEE33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O drone é só uma parte do sistema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92357F7F-D6B7-4CF8-8BD9-1A68DB38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66FD1215-4419-4C78-AE30-B467261B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A missão define a informação que o sistema precisa entregar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C6AC2DFB-B934-42AF-8370-9AFBA1D6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aeronave transporta sensores e executa uma trajetória.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8809E6E8-064F-4B9C-8775-9906F502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O resultado precisa apoiar uma decisão verificável.</a:t>
            </a:r>
          </a:p>
        </p:txBody>
      </p:sp>
    </p:spTree>
    <p:extLst>
      <p:ext uri="{BB962C8B-B14F-4D97-AF65-F5344CB8AC3E}">
        <p14:creationId xmlns:p14="http://schemas.microsoft.com/office/powerpoint/2010/main" val="232015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1B221162-91D9-48E3-A213-1E967F9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01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695FD8B-2EFB-4ACD-BB81-D0DE526B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Três plataformas, três contextos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281E1B01-F0A4-4F8B-8AC3-6CD5CD6A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24CD7-07C4-4FC8-8834-2C03601A4957}"/>
              </a:ext>
            </a:extLst>
          </p:cNvPr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3429000"/>
                <a:gridCol w="43434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Plataforma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Contexto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Informação discutida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DJI Mini 4 Pro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Fotografia e inspeção visual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Imagem próxima do objeto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Hermes 900 / RQ-900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Vigilância e reconhecimento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Consciência situacional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NASA Ingenuity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Pesquisa em Marte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Navegação e aprendizado com falhas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8D081F37-539F-4BF0-900B-BD9813EC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Comparação de funções. As plataformas seguem requisitos e condições próprios.</a:t>
            </a:r>
          </a:p>
        </p:txBody>
      </p:sp>
    </p:spTree>
    <p:extLst>
      <p:ext uri="{BB962C8B-B14F-4D97-AF65-F5344CB8AC3E}">
        <p14:creationId xmlns:p14="http://schemas.microsoft.com/office/powerpoint/2010/main" val="361941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C61BA70C-59A7-4B7F-B43A-00C63AE9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01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67FA4073-7060-44BF-B8D8-3191827B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DF63BE1C-07EB-4221-808E-52FD5267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253113E4-40B8-4CF1-84B0-59BF781A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Para inspeção de telhado, cobertura vegetal e divulgação de um evento, definir uma pergunta e uma evidência para cada missão.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B42596D8-E729-4140-A65C-8AEC1F9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1966213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B642A0D4-B2D0-4D43-A0A2-864D1124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02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06194D2A-E269-4EC5-9A36-00E5E7D6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Como um drone voa e se orienta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351C6085-F6DE-485D-9445-24E5FA87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31DDF0E7-5057-41CA-B0AF-E5103858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A inclinação muda a direção da força de empuxo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95A243C0-B8E4-4AFC-AF0A-2A751AD6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O controle combina sensores com ajustes nos motores.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610F1C3E-BD63-4971-8C56-4A5AA7B0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componente vertical precisa sustentar o peso.</a:t>
            </a:r>
          </a:p>
        </p:txBody>
      </p:sp>
    </p:spTree>
    <p:extLst>
      <p:ext uri="{BB962C8B-B14F-4D97-AF65-F5344CB8AC3E}">
        <p14:creationId xmlns:p14="http://schemas.microsoft.com/office/powerpoint/2010/main" val="514231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1C9D5876-AE3C-4CB1-898B-34578C59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02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C521237-BD0B-4292-B64C-0CEE8A2A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Componentes do empuxo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9A2B292F-222F-4334-9E72-6F7B4983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4833F-0575-4C05-95D1-379E940BA20B}"/>
              </a:ext>
            </a:extLst>
          </p:cNvPr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108204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3429000"/>
                <a:gridCol w="43434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Grandeza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Cálculo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Empuxo total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 = 10 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Inclinação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θ = 30°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30°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Componente vertical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 cos(θ)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8,66 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Componente horizontal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 sen(θ)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5,00 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42B0E991-7AAE-440F-8526-72B384E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Exemplo sintético de mecânica. Sem arrasto e sem aceleração angular.</a:t>
            </a:r>
          </a:p>
        </p:txBody>
      </p:sp>
    </p:spTree>
    <p:extLst>
      <p:ext uri="{BB962C8B-B14F-4D97-AF65-F5344CB8AC3E}">
        <p14:creationId xmlns:p14="http://schemas.microsoft.com/office/powerpoint/2010/main" val="1111575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4FDE81E8-35F6-4BDE-A76A-0F4DEE9F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02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54DCF71-A338-47BF-9132-585759B5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3559FD22-7279-431A-917F-5F6D2EAA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8BB86960-D93D-4F8E-8A1B-EA3ECA1F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Por que inclinar a aeronave pode reduzir a componente vertical do empuxo se o empuxo total não mudar?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B54571AD-D4D3-4823-BB8C-9F73676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11196391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56817764-3297-4E50-A6CB-804561A8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03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B284F437-F655-444F-9EB9-C04F1F5B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Quem autoriza o quê no Brasil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666507A6-E233-4C33-9300-4A2203EF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2CBA082F-1A37-40B2-AA7F-53194A17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O planejamento reúne requisitos de diferentes órgãos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594A2012-7A1D-4AFD-9EFF-4F34DF23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ficha de alcance descreve uma capacidade técnica.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E620F5C8-790A-4800-8A10-A9DA18F5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O enquadramento depende da missão e das condições de operação.</a:t>
            </a:r>
          </a:p>
        </p:txBody>
      </p:sp>
    </p:spTree>
    <p:extLst>
      <p:ext uri="{BB962C8B-B14F-4D97-AF65-F5344CB8AC3E}">
        <p14:creationId xmlns:p14="http://schemas.microsoft.com/office/powerpoint/2010/main" val="1611584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DDC2BFA9-0A8E-427C-A3B6-753BA9E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03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65085EE8-32EC-43F8-8FF3-B903D76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Responsabilidades no Brasil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46F8B257-DA47-4568-A6E1-99715D30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37DB8-B9C2-4B6C-8759-99CC3EA62D59}"/>
              </a:ext>
            </a:extLst>
          </p:cNvPr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729615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Órgão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Tema de consulta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ANAC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Requisitos aplicáveis à aeronave, ao operador e à operação civil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DECEA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Acesso e uso do espaço aéreo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ANATEL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Conformidade e homologação dos equipamentos de telecomunicações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62E39584-6A63-4B2C-9CBB-288AF347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Referências de consulta. Conferir normas e condições aplicáveis antes da operação.</a:t>
            </a:r>
          </a:p>
        </p:txBody>
      </p:sp>
    </p:spTree>
    <p:extLst>
      <p:ext uri="{BB962C8B-B14F-4D97-AF65-F5344CB8AC3E}">
        <p14:creationId xmlns:p14="http://schemas.microsoft.com/office/powerpoint/2010/main" val="7323279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F3410E43-8DB6-4A6A-8EFD-23CD7C39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03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FE2FBBF-22D5-4F6C-BF3B-554B6C4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3371534E-815D-40A5-AF05-8DB096D5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5B2A36F0-83E8-4E26-A6AC-CE38B97E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Um equipamento anuncia 20 km de comunicação. Essa ficha basta para autorizar um voo a 20 km?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ACE0AE53-CE08-4F2C-A3CA-D40CAA9D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14703985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7CAC0409-7202-49B9-A4BE-294542A2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04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06124116-30E7-47DF-B532-BD7AA31C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Qual drone combina com a missão?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84F477F0-4CA2-4592-9A4A-CB9E6300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71C30C2F-4CD7-4B0F-9475-93336E2B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A plataforma acompanha os requisitos da tarefa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2EC8FFFF-59F2-4EF9-AB1A-94AE46BA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O interior de um tanque exige proteção e localização em ambiente confinado.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DC4CB259-46D7-48FA-9A11-B92560E8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Uma área extensa exige cobertura e geometria de aquisição.</a:t>
            </a:r>
          </a:p>
        </p:txBody>
      </p:sp>
    </p:spTree>
    <p:extLst>
      <p:ext uri="{BB962C8B-B14F-4D97-AF65-F5344CB8AC3E}">
        <p14:creationId xmlns:p14="http://schemas.microsoft.com/office/powerpoint/2010/main" val="20555988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4B26972D-C0D2-4B4D-9369-C42F8C27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04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46B10126-5B2B-45A8-A4E1-17BCE127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Escolha de plataforma por missão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3A8AAF6B-368E-4E9A-BBD5-8B237E62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9331E-206B-4FBE-BD0D-FA185E56CE5A}"/>
              </a:ext>
            </a:extLst>
          </p:cNvPr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108204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3429000"/>
                <a:gridCol w="43434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Tarefa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Exemplo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Questão de engenharia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Treino e imagem RGB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Phantom 4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Condição do equipamento legado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Fotogrametria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Mavic 3E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Geometria e controle da qualidade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Inspeção interna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Elios 3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Proteção e localização por SLAM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Levantamento extenso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WingtraRAY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Cobertura em voo de cruzeiro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B9343538-F0F4-478F-94F1-BA4A4A92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Exemplos do catálogo. A configuração e as condições reais completam a escolha.</a:t>
            </a:r>
          </a:p>
        </p:txBody>
      </p:sp>
    </p:spTree>
    <p:extLst>
      <p:ext uri="{BB962C8B-B14F-4D97-AF65-F5344CB8AC3E}">
        <p14:creationId xmlns:p14="http://schemas.microsoft.com/office/powerpoint/2010/main" val="5986818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01B3E8A7-F333-4FAC-A527-4EADAFA2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04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67428A2-788E-49BB-8060-F6C59A6A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5CA3ACFF-1845-476D-A041-5CCC0DFA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AFCDC269-2A19-4BF8-9D6B-DDE1D5D7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Uma mesma plataforma deve inspecionar o interior de um tanque e mapear centenas de hectares?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BAB783C5-9A0B-45FF-B444-8836396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19568725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BB2DA735-9063-4F4A-B298-626CEA56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05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0830D1AD-0FA3-4E40-A0CC-2D61450E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GO ou NO-GO: a decisão antes de decolar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506620DA-6EE9-4668-A78B-556B4A12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825E1D3E-7796-402A-B3A9-3878DC3D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O briefing transforma riscos em critérios de decisão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7993D54D-A56D-4A8C-97D4-EF4CAED5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equipe combina papéis, área, retorno e condições de interrupção.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681A1092-A77A-43AB-8993-052A40E9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margem de energia precisa considerar a missão completa.</a:t>
            </a:r>
          </a:p>
        </p:txBody>
      </p:sp>
    </p:spTree>
    <p:extLst>
      <p:ext uri="{BB962C8B-B14F-4D97-AF65-F5344CB8AC3E}">
        <p14:creationId xmlns:p14="http://schemas.microsoft.com/office/powerpoint/2010/main" val="9504030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8F9D8342-496F-49E9-98CD-F14E7B8A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05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146BE73-AF9A-47F4-A309-EE57BABF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Uma conta didática de autonomia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3CA018C1-C95A-481E-B242-8AC8C7E6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C1C83-0AF7-4629-9369-0FB17E6B2CD0}"/>
              </a:ext>
            </a:extLst>
          </p:cNvPr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108204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3429000"/>
                <a:gridCol w="43434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Etapa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Cálculo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Energia útil e potência média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 Wh / 240 W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1/3 h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Tempo estimado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(1/3 h) × 60 min/h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 min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Reserva adotada no exercício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25% × 20 min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min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Tempo antes dos deslocamentos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 min − 5 min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 min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5734D572-04F5-4843-BFD8-47B6117F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Valores sintéticos. A reserva de 25% pertence ao exercício e não é regra universal.</a:t>
            </a:r>
          </a:p>
        </p:txBody>
      </p:sp>
    </p:spTree>
    <p:extLst>
      <p:ext uri="{BB962C8B-B14F-4D97-AF65-F5344CB8AC3E}">
        <p14:creationId xmlns:p14="http://schemas.microsoft.com/office/powerpoint/2010/main" val="9336870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505D5636-5EE6-4545-9E4A-B1EF16AD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05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41B2CF2A-1CEB-4E8D-8ADB-B5D47AF5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19681DD6-16A4-42C0-9F9C-B9839295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F4020A1A-852B-4CDE-B15D-6B995D67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No exemplo, se deslocamento de ida e volta consumir quatro minutos, quanto sobra para coleta?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6602E552-E846-4978-A473-85F688BF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11150407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E7A74837-151E-444C-B9F2-97FA1F8B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06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28764107-A0AC-4265-81D4-E6F9D9DA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Da câmera ao dado confiável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71890C9D-875C-4838-B5A9-1AC6C488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E7880422-763F-469E-90FA-FF8328C9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Cada sensor responde a uma pergunta diferente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672A87E8-2B80-495D-A111-07FD288B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O produto final depende da aquisição, do processamento e da validação.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912ED53D-1E6D-491D-8D89-9C8F2A3D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GSD descreve amostragem no terreno. A exatidão precisa de verificação independente.</a:t>
            </a:r>
          </a:p>
        </p:txBody>
      </p:sp>
    </p:spTree>
    <p:extLst>
      <p:ext uri="{BB962C8B-B14F-4D97-AF65-F5344CB8AC3E}">
        <p14:creationId xmlns:p14="http://schemas.microsoft.com/office/powerpoint/2010/main" val="3564360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9565544E-BEB4-4EC5-AD28-B545654A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06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01A3F958-A817-4B72-A19B-0E58A83C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Sensor e pergunta de investigação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76793D7E-1612-4A60-93BA-153916A4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95BEE-1481-48FD-A4C5-A43B91B61707}"/>
              </a:ext>
            </a:extLst>
          </p:cNvPr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108204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729615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Sensor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Pergunta que pode apoiar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RGB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Há dano visível ou mudança de geometria?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Térmico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Há uma anomalia de temperatura aparente?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Multiespectral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Há um padrão de reflectância diferente?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LiDAR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 é a geometria medida no ambiente?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E4BA275E-FD5D-463E-B638-72915995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A evidência depende de condições de aquisição, calibração e interpretação.</a:t>
            </a:r>
          </a:p>
        </p:txBody>
      </p:sp>
    </p:spTree>
    <p:extLst>
      <p:ext uri="{BB962C8B-B14F-4D97-AF65-F5344CB8AC3E}">
        <p14:creationId xmlns:p14="http://schemas.microsoft.com/office/powerpoint/2010/main" val="7597473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62541BFD-D444-47CD-885E-B9FBA154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06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3FEFBB38-D0B3-4FA9-805B-CA633446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317D8453-B4B5-4251-B7C7-58A3EA90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830E7C3B-87C6-44D6-AEB3-AECAD230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Se o GSD for 2 cm/pixel, posso declarar que todas as coordenadas têm erro de 2 cm?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426E8A9C-C8F2-49C2-8008-C6F71442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10125432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C66B13D5-80DE-42BB-8B8A-62878436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07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F677AA0-5536-4F7C-A25F-B6ED36B1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Drones na indústria, nas obras e na energia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C4759868-C63F-429B-8331-AF967BF2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AFAFCEDD-3083-452C-B246-B5564B1A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A inspeção produz uma observação rastreável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10DA8895-DD32-4547-89DB-E6B34E29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equipe registra posição, horário, condições e identificação do componente.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BD84B8A2-B19F-4235-BE01-0E23775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manutenção confirma hipóteses com evidência adicional.</a:t>
            </a:r>
          </a:p>
        </p:txBody>
      </p:sp>
    </p:spTree>
    <p:extLst>
      <p:ext uri="{BB962C8B-B14F-4D97-AF65-F5344CB8AC3E}">
        <p14:creationId xmlns:p14="http://schemas.microsoft.com/office/powerpoint/2010/main" val="8451433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pisode">
            <a:extLst xmlns:a="http://schemas.openxmlformats.org/drawingml/2006/main">
              <a:ext uri="{FF2B5EF4-FFF2-40B4-BE49-F238E27FC236}">
                <a16:creationId xmlns:a16="http://schemas.microsoft.com/office/drawing/2014/main" id="{7E41B3EC-3154-4DCD-A815-FBC9D82C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07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EABFDD3-CA9E-4CFA-8717-CCE2F84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Inspeção por drone em um FPSO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67618CB1-1205-4F1E-965B-56924B21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4" name="case-fact">
            <a:extLst xmlns:a="http://schemas.openxmlformats.org/drawingml/2006/main">
              <a:ext uri="{FF2B5EF4-FFF2-40B4-BE49-F238E27FC236}">
                <a16:creationId xmlns:a16="http://schemas.microsoft.com/office/drawing/2014/main" id="{E022E296-2A13-4EE4-AFA3-A8C58D6D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Flyability relata o uso de drones de inspeção no processo de digitalização e inspeção de FPSOs da TotalEnergies.</a:t>
            </a:r>
          </a:p>
        </p:txBody>
      </p:sp>
      <p:sp>
        <p:nvSpPr>
          <p:cNvPr id="5" name="case-question-1">
            <a:extLst xmlns:a="http://schemas.openxmlformats.org/drawingml/2006/main">
              <a:ext uri="{FF2B5EF4-FFF2-40B4-BE49-F238E27FC236}">
                <a16:creationId xmlns:a16="http://schemas.microsoft.com/office/drawing/2014/main" id="{3880E65B-3CCC-4BAB-B34C-C0E980D3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Como localizar a observação no compartimento?</a:t>
            </a:r>
          </a:p>
        </p:txBody>
      </p:sp>
      <p:sp>
        <p:nvSpPr>
          <p:cNvPr id="6" name="case-question-2">
            <a:extLst xmlns:a="http://schemas.openxmlformats.org/drawingml/2006/main">
              <a:ext uri="{FF2B5EF4-FFF2-40B4-BE49-F238E27FC236}">
                <a16:creationId xmlns:a16="http://schemas.microsoft.com/office/drawing/2014/main" id="{6EA09031-6732-474A-A832-2DA4EA94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Que evidência a equipe de manutenção precisa receber?</a:t>
            </a:r>
          </a:p>
        </p:txBody>
      </p:sp>
      <p:sp>
        <p:nvSpPr>
          <p:cNvPr id="7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9508B52C-9850-4C9F-90D0-CE67D1EC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Caso documentado pelo fornecedor. FPSO é uma unidade flutuante de produção, armazenamento e transferência de petróleo.</a:t>
            </a:r>
          </a:p>
        </p:txBody>
      </p:sp>
    </p:spTree>
    <p:extLst>
      <p:ext uri="{BB962C8B-B14F-4D97-AF65-F5344CB8AC3E}">
        <p14:creationId xmlns:p14="http://schemas.microsoft.com/office/powerpoint/2010/main" val="7472249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33D2EB19-C591-4774-8A1A-F7B64D8B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07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BC57182D-0147-40B1-AF97-79A09E40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F2054E1C-5F0B-4336-BEF5-B1C70951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EF20D88A-886F-422E-9027-97B4B8D7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Uma imagem mostra temperatura elevada em um módulo. Qual deve ser a próxima frase do relatório?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126A2A4F-9224-4412-98AD-A2C681FE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8894055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27DAF518-94A1-44AF-93E2-8F90C791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08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30B7120-5A12-4631-99E9-64F33A84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Drones no campo e no meio ambiente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F6F17A26-7457-4E05-BAB7-4BA08A30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6453721C-9054-43F3-913E-1C2A8303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Um padrão na imagem orienta a investigação em campo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DC2DF048-E5CA-46A2-91DF-DE4FE530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Mapear uma lavoura e aplicar insumos exigem sistemas e qualificações diferentes.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FE8FA933-068F-4B33-A900-C9089451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interpretação depende da cultura, do solo e das condições de aquisição.</a:t>
            </a:r>
          </a:p>
        </p:txBody>
      </p:sp>
    </p:spTree>
    <p:extLst>
      <p:ext uri="{BB962C8B-B14F-4D97-AF65-F5344CB8AC3E}">
        <p14:creationId xmlns:p14="http://schemas.microsoft.com/office/powerpoint/2010/main" val="9404442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8E454E71-BC27-4A35-A59C-A9713595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08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723103EF-DB75-4C23-86C2-87F99EF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NDVI em um cenário didático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EAF8A534-71AD-495F-8B21-2AEC1E75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39E03-D72B-476C-9EF9-E5C126279D23}"/>
              </a:ext>
            </a:extLst>
          </p:cNvPr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334000"/>
                <a:gridCol w="54864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Dado ou cálculo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Valor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Reflectância no infravermelho próximo (NIR)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0,60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Reflectância no vermelho (R)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0,20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NDVI = (NIR − R) / (NIR + R)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0,50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061D6CE3-DFAA-4951-A794-78D10748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Valores sintéticos. O índice isolado não determina a causa da variação observada.</a:t>
            </a:r>
          </a:p>
        </p:txBody>
      </p:sp>
    </p:spTree>
    <p:extLst>
      <p:ext uri="{BB962C8B-B14F-4D97-AF65-F5344CB8AC3E}">
        <p14:creationId xmlns:p14="http://schemas.microsoft.com/office/powerpoint/2010/main" val="8250650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4B639A63-A303-4DE7-884A-F7C3880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08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3B5CFC5-A1EE-4E32-BEBE-99016701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036DAC03-7A5E-4328-A52E-CF07DF84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9AF00AC0-1935-412B-860B-8B7BEE2E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Se duas imagens de uma área foram obtidas com luz e geometria distintas, toda mudança de cor significa mudança ambiental?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C8B7645F-7DDD-42AF-AC38-B237820A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14142335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CB7FDEC5-9B46-4882-975C-624FC047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09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938214D6-CE80-4C06-A16B-EC878A39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Drones em emergências e serviços públicos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625B4562-CBBD-4EC8-8AAB-198ADE75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F750C3A9-B4D5-4CA1-8932-40E438D8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A informação útil chega à equipe com contexto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56CFD4FA-DD87-4AEB-A8E5-4DC5E27A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O observador comunica localização, horário, descrição e grau de confiança.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5E89E9EB-E45B-4F41-BE5A-18A778BB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coordenação integra o drone aos demais meios de resposta.</a:t>
            </a:r>
          </a:p>
        </p:txBody>
      </p:sp>
    </p:spTree>
    <p:extLst>
      <p:ext uri="{BB962C8B-B14F-4D97-AF65-F5344CB8AC3E}">
        <p14:creationId xmlns:p14="http://schemas.microsoft.com/office/powerpoint/2010/main" val="16747212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pisode">
            <a:extLst xmlns:a="http://schemas.openxmlformats.org/drawingml/2006/main">
              <a:ext uri="{FF2B5EF4-FFF2-40B4-BE49-F238E27FC236}">
                <a16:creationId xmlns:a16="http://schemas.microsoft.com/office/drawing/2014/main" id="{1145112B-C749-4681-BFF7-69666099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09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2647A6E7-0C73-4250-9DB2-DB40166F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Apoio às enchentes no Rio Grande do Sul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20926D1F-22C5-4B90-B089-C061291C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4" name="case-fact">
            <a:extLst xmlns:a="http://schemas.openxmlformats.org/drawingml/2006/main">
              <a:ext uri="{FF2B5EF4-FFF2-40B4-BE49-F238E27FC236}">
                <a16:creationId xmlns:a16="http://schemas.microsoft.com/office/drawing/2014/main" id="{FB443733-B0D4-461D-AE67-8FD9D83B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Em maio de 2024, a FAB relatou o emprego do RQ-900 no apoio aos resgates durante as enchentes no Rio Grande do Sul.</a:t>
            </a:r>
          </a:p>
        </p:txBody>
      </p:sp>
      <p:sp>
        <p:nvSpPr>
          <p:cNvPr id="5" name="case-question-1">
            <a:extLst xmlns:a="http://schemas.openxmlformats.org/drawingml/2006/main">
              <a:ext uri="{FF2B5EF4-FFF2-40B4-BE49-F238E27FC236}">
                <a16:creationId xmlns:a16="http://schemas.microsoft.com/office/drawing/2014/main" id="{75CC923C-91F6-4B59-B09B-6F1E447C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Como a observação ajuda a equipe em solo?</a:t>
            </a:r>
          </a:p>
        </p:txBody>
      </p:sp>
      <p:sp>
        <p:nvSpPr>
          <p:cNvPr id="6" name="case-question-2">
            <a:extLst xmlns:a="http://schemas.openxmlformats.org/drawingml/2006/main">
              <a:ext uri="{FF2B5EF4-FFF2-40B4-BE49-F238E27FC236}">
                <a16:creationId xmlns:a16="http://schemas.microsoft.com/office/drawing/2014/main" id="{BB7B61E3-3757-452A-A710-9E6EF0B1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Que informação permite checagem e encaminhamento?</a:t>
            </a:r>
          </a:p>
        </p:txBody>
      </p:sp>
      <p:sp>
        <p:nvSpPr>
          <p:cNvPr id="7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FADAA22A-E923-4DDC-B5D3-0AA097F0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Caso histórico da FAB. A missão exige coordenação com os demais meios de resposta.</a:t>
            </a:r>
          </a:p>
        </p:txBody>
      </p:sp>
    </p:spTree>
    <p:extLst>
      <p:ext uri="{BB962C8B-B14F-4D97-AF65-F5344CB8AC3E}">
        <p14:creationId xmlns:p14="http://schemas.microsoft.com/office/powerpoint/2010/main" val="10740464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98A4C167-8679-4B3B-8571-A578A0D8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09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511DA30-49C5-4EDB-A5B2-2B89FE59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18DB559D-3057-4714-A6F2-057D95A5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18110FD3-00FA-4620-8D2E-DA8B279B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Qual mensagem é mais útil: “vi algo no rio” ou uma observação com localização, horário, descrição e grau de confiança?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5E75C6C7-99A3-44D9-904E-D562ED73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56429261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A9F39E05-B89C-4332-8AD9-ECD42EFB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10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08D4A29-BCEB-43C0-83BF-E1138092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Entrega por drone: o desafio é o serviço inteiro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BDF92C69-1253-413E-B26D-D7E0D156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0134809B-75E2-4495-84B6-539732D0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O cliente percebe o tempo do serviço completo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1908FED3-7F5E-4C00-9A3D-153A2A96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Preparação e transferência também entram na medida de desempenho.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19D7BE0F-7E3D-4FBA-98E3-43297FD9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análise inclui tempo total, cancelamentos e custo do processo.</a:t>
            </a:r>
          </a:p>
        </p:txBody>
      </p:sp>
    </p:spTree>
    <p:extLst>
      <p:ext uri="{BB962C8B-B14F-4D97-AF65-F5344CB8AC3E}">
        <p14:creationId xmlns:p14="http://schemas.microsoft.com/office/powerpoint/2010/main" val="177623937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623F6BD5-988F-4EF6-95CF-CB8C8FF4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10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9B432D0A-6EFF-4782-A174-12237F84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Uma entrega fictícia de 12 minutos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FD533C02-A54C-4FF3-AABC-E465B992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8B9FD-8359-48CD-BFBC-FB7A83D3E8B5}"/>
              </a:ext>
            </a:extLst>
          </p:cNvPr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108204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729615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Etapa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Duração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Preparação da carga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min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Voo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min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Transferência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min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do escopo apresentado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 min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97B5621D-2B19-474F-A45F-72B2721B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Exemplo sintético. Espera e confirmação entram na conta quando pertencem ao escopo.</a:t>
            </a:r>
          </a:p>
        </p:txBody>
      </p:sp>
    </p:spTree>
    <p:extLst>
      <p:ext uri="{BB962C8B-B14F-4D97-AF65-F5344CB8AC3E}">
        <p14:creationId xmlns:p14="http://schemas.microsoft.com/office/powerpoint/2010/main" val="16608105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7EB12A53-61DD-4420-BA83-583E81FF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10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CA4FD49-240E-48C7-A8CB-C5A38F03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EDDB059C-A692-445A-BC01-50059FAE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DCED7489-F697-482D-BF1E-E361A667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No exemplo sintético, o voo levou quatro minutos. Qual foi o tempo total do serviço mostrado?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1B0CFD96-1E7A-40EF-940E-28DB711E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40402794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9DCF6E68-B046-4596-B5B7-F463353F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11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B06F09FE-B0DE-418F-93D5-E5CF7FF3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Drones civis e militares: o que muda na engenharia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0604FFBB-B24B-4EBF-B3E5-4DE737B7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24D2FF3E-9D34-4B1A-9BDB-926EF9BB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A missão explica a escala do sistema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CAD4BD26-B4AF-4460-8C4B-5AEFFB5A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Miniaturização e permanência exigem escolhas diferentes de energia e comunicação.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FE7C90FA-ABC2-4FE2-93AA-4615F6D1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comparação inclui sensores, equipe, infraestrutura e responsabilidade.</a:t>
            </a:r>
          </a:p>
        </p:txBody>
      </p:sp>
    </p:spTree>
    <p:extLst>
      <p:ext uri="{BB962C8B-B14F-4D97-AF65-F5344CB8AC3E}">
        <p14:creationId xmlns:p14="http://schemas.microsoft.com/office/powerpoint/2010/main" val="5634607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FB3912DF-6224-41F0-89D9-B366706B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11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44652616-F6A2-4849-BC29-AA30AB5B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Arquiteturas em aplicações de defesa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97AC6DE6-BB05-464B-BE19-4580748B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5CDA5-EBB1-468B-B967-E2E5FF0E3578}"/>
              </a:ext>
            </a:extLst>
          </p:cNvPr>
          <p:cNvGraphicFramePr/>
          <p:nvPr/>
        </p:nvGraphicFramePr>
        <p:xfrm>
          <a:off xmlns:a="http://schemas.openxmlformats.org/drawingml/2006/main" x="685800" y="2019300"/>
          <a:ext xmlns:a="http://schemas.openxmlformats.org/drawingml/2006/main" cx="108204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3429000"/>
                <a:gridCol w="43434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Plataforma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Arquitetura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Tema de engenharia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T w="9525">
                      <a:solidFill>
                        <a:srgbClr val="DCE2E9"/>
                      </a:solidFill>
                      <a:prstDash val="solid"/>
                    </a:lnT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111D3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Black Hornet 4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Helicóptero de rotor único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Miniaturização e reconhecimento próximo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Hermes 900 / RQ-900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Asa fixa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Sensores e consciência situacional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MQ-9B SkyGuardian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Asa fixa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Permanência e integração de enlaces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Nauru 500C ISR</a:t>
                      </a:r>
                    </a:p>
                  </a:txBody>
                  <a:tcPr marL="152400" marR="152400" marT="95250" marB="95250" anchor="ctr">
                    <a:lnL w="9525">
                      <a:solidFill>
                        <a:srgbClr val="DCE2E9"/>
                      </a:solidFill>
                      <a:prstDash val="solid"/>
                    </a:lnL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Asa fixa VTOL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4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Integração em uma plataforma brasileira</a:t>
                      </a:r>
                    </a:p>
                  </a:txBody>
                  <a:tcPr marL="152400" marR="152400" marT="95250" marB="95250" anchor="ctr">
                    <a:lnR w="9525">
                      <a:solidFill>
                        <a:srgbClr val="DCE2E9"/>
                      </a:solidFill>
                      <a:prstDash val="solid"/>
                    </a:lnR>
                    <a:lnB w="9525">
                      <a:solidFill>
                        <a:srgbClr val="DCE2E9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5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CF18B86E-F3C8-4C2B-B10E-14A87569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Comparação pública de engenharia. Capacidades técnicas dependem da configuração.</a:t>
            </a:r>
          </a:p>
        </p:txBody>
      </p:sp>
    </p:spTree>
    <p:extLst>
      <p:ext uri="{BB962C8B-B14F-4D97-AF65-F5344CB8AC3E}">
        <p14:creationId xmlns:p14="http://schemas.microsoft.com/office/powerpoint/2010/main" val="46359251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F946679C-DFD0-4D97-8F34-12F4EE9A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11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3B55D790-A2CB-48B1-B015-5DF9CB23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5DEB4F34-6067-42C3-BC3F-7B0C8C20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56E59B37-B54B-4438-AB19-7933287E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Que comparação é mais útil: tamanho da aeronave ou relação entre missão, sensor, permanência e infraestrutura?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AE451687-5936-452B-B9C7-36D3940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2935570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pisode">
            <a:extLst xmlns:a="http://schemas.openxmlformats.org/drawingml/2006/main">
              <a:ext uri="{FF2B5EF4-FFF2-40B4-BE49-F238E27FC236}">
                <a16:creationId xmlns:a16="http://schemas.microsoft.com/office/drawing/2014/main" id="{67A0D378-E2A6-4B7B-ADC7-F32FFCF3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12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27173A27-5408-46AA-A50D-F2C7382C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Autonomia, IA e o próximo voo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B6B5CAF8-561A-4965-BCEC-E1E7DF1C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4" name="main-concept">
            <a:extLst xmlns:a="http://schemas.openxmlformats.org/drawingml/2006/main">
              <a:ext uri="{FF2B5EF4-FFF2-40B4-BE49-F238E27FC236}">
                <a16:creationId xmlns:a16="http://schemas.microsoft.com/office/drawing/2014/main" id="{153DFD68-842C-4DE4-9F96-EDF475F0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A autonomia exige validação nas condições da missão</a:t>
            </a:r>
          </a:p>
        </p:txBody>
      </p:sp>
      <p:sp>
        <p:nvSpPr>
          <p:cNvPr id="5" name="support-1">
            <a:extLst xmlns:a="http://schemas.openxmlformats.org/drawingml/2006/main">
              <a:ext uri="{FF2B5EF4-FFF2-40B4-BE49-F238E27FC236}">
                <a16:creationId xmlns:a16="http://schemas.microsoft.com/office/drawing/2014/main" id="{9DA91BBD-B55D-4667-8531-5827D4F0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simulação permite ensaiar condições e falhas com exposição controlada.</a:t>
            </a:r>
          </a:p>
        </p:txBody>
      </p:sp>
      <p:sp>
        <p:nvSpPr>
          <p:cNvPr id="6" name="support-2">
            <a:extLst xmlns:a="http://schemas.openxmlformats.org/drawingml/2006/main">
              <a:ext uri="{FF2B5EF4-FFF2-40B4-BE49-F238E27FC236}">
                <a16:creationId xmlns:a16="http://schemas.microsoft.com/office/drawing/2014/main" id="{F0640E1E-9D9C-45D8-A7CD-C15A8CE4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Os resultados precisam informar onde o sistema funciona e quais erros permanecem.</a:t>
            </a:r>
          </a:p>
        </p:txBody>
      </p:sp>
    </p:spTree>
    <p:extLst>
      <p:ext uri="{BB962C8B-B14F-4D97-AF65-F5344CB8AC3E}">
        <p14:creationId xmlns:p14="http://schemas.microsoft.com/office/powerpoint/2010/main" val="17545356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pisode">
            <a:extLst xmlns:a="http://schemas.openxmlformats.org/drawingml/2006/main">
              <a:ext uri="{FF2B5EF4-FFF2-40B4-BE49-F238E27FC236}">
                <a16:creationId xmlns:a16="http://schemas.microsoft.com/office/drawing/2014/main" id="{D5F138E1-72DF-423D-932F-F1F1F5ED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12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70A325A-4404-4B33-B644-1754FDC2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Ingenuity: 72 voos em Marte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FF55DB26-90B0-41D6-A090-A7E54328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8104E-07E4-4522-9954-84ABB36A99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8b7f6b02c449a"/>
          <a:stretch xmlns:a="http://schemas.openxmlformats.org/drawingml/2006/main"/>
        </p:blipFill>
        <p:spPr>
          <a:xfrm xmlns:a="http://schemas.openxmlformats.org/drawingml/2006/main">
            <a:off x="685800" y="2856049"/>
            <a:ext cx="5715000" cy="1545952"/>
          </a:xfrm>
          <a:prstGeom xmlns:a="http://schemas.openxmlformats.org/drawingml/2006/main" prst="rect">
            <a:avLst/>
          </a:prstGeom>
        </p:spPr>
      </p:pic>
      <p:sp>
        <p:nvSpPr>
          <p:cNvPr id="5" name="case-fact">
            <a:extLst xmlns:a="http://schemas.openxmlformats.org/drawingml/2006/main">
              <a:ext uri="{FF2B5EF4-FFF2-40B4-BE49-F238E27FC236}">
                <a16:creationId xmlns:a16="http://schemas.microsoft.com/office/drawing/2014/main" id="{E2A2F237-57C4-4E6E-8305-F771F315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4686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8243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82436"/>
                </a:solidFill>
                <a:latin typeface="DejaVu Sans"/>
                <a:ea typeface="DejaVu Sans"/>
                <a:cs typeface="DejaVu Sans"/>
              </a:rPr>
              <a:t>A NASA anunciou o fim da missão em janeiro de 2024. A investigação posterior discutiu limitações da navegação na etapa final.</a:t>
            </a:r>
          </a:p>
        </p:txBody>
      </p:sp>
      <p:sp>
        <p:nvSpPr>
          <p:cNvPr id="6" name="case-question-1">
            <a:extLst xmlns:a="http://schemas.openxmlformats.org/drawingml/2006/main">
              <a:ext uri="{FF2B5EF4-FFF2-40B4-BE49-F238E27FC236}">
                <a16:creationId xmlns:a16="http://schemas.microsoft.com/office/drawing/2014/main" id="{EA159C3D-34D1-41BF-A6D2-82804CB6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468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Como o ambiente afeta a navegação visual?</a:t>
            </a:r>
          </a:p>
        </p:txBody>
      </p:sp>
      <p:sp>
        <p:nvSpPr>
          <p:cNvPr id="7" name="case-question-2">
            <a:extLst xmlns:a="http://schemas.openxmlformats.org/drawingml/2006/main">
              <a:ext uri="{FF2B5EF4-FFF2-40B4-BE49-F238E27FC236}">
                <a16:creationId xmlns:a16="http://schemas.microsoft.com/office/drawing/2014/main" id="{308F066C-6B0A-4D84-BDB5-AD1BECAD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76825"/>
            <a:ext cx="468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Que decisão precisa ocorrer a bordo?</a:t>
            </a:r>
          </a:p>
        </p:txBody>
      </p:sp>
      <p:sp>
        <p:nvSpPr>
          <p:cNvPr id="8" name="context-note">
            <a:extLst xmlns:a="http://schemas.openxmlformats.org/drawingml/2006/main">
              <a:ext uri="{FF2B5EF4-FFF2-40B4-BE49-F238E27FC236}">
                <a16:creationId xmlns:a16="http://schemas.microsoft.com/office/drawing/2014/main" id="{C8FED03C-B3FF-46C4-91C5-ABD2DF8E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Caso histórico. Foto: NASA/JPL-Caltech/ASU/MSSS, registro de 02/08/2023.</a:t>
            </a:r>
          </a:p>
        </p:txBody>
      </p:sp>
    </p:spTree>
    <p:extLst>
      <p:ext uri="{BB962C8B-B14F-4D97-AF65-F5344CB8AC3E}">
        <p14:creationId xmlns:p14="http://schemas.microsoft.com/office/powerpoint/2010/main" val="4511868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pisode">
            <a:extLst xmlns:a="http://schemas.openxmlformats.org/drawingml/2006/main">
              <a:ext uri="{FF2B5EF4-FFF2-40B4-BE49-F238E27FC236}">
                <a16:creationId xmlns:a16="http://schemas.microsoft.com/office/drawing/2014/main" id="{1D5A21EA-521C-4C43-BCCD-28CD5160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EPISÓDIO 12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6F7708B8-2591-4F13-8D97-D39B503F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Pergunta para o público</a:t>
            </a:r>
          </a:p>
        </p:txBody>
      </p:sp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935F2845-2C60-480F-BEDB-44192F86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174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  <p:sp>
        <p:nvSpPr>
          <p:cNvPr id="4" name="audience-question">
            <a:extLst xmlns:a="http://schemas.openxmlformats.org/drawingml/2006/main">
              <a:ext uri="{FF2B5EF4-FFF2-40B4-BE49-F238E27FC236}">
                <a16:creationId xmlns:a16="http://schemas.microsoft.com/office/drawing/2014/main" id="{E77B8478-69F1-4A1E-AA89-F3EA0390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11D32"/>
                </a:solidFill>
                <a:latin typeface="DejaVu Sans"/>
                <a:ea typeface="DejaVu Sans"/>
                <a:cs typeface="DejaVu Sans"/>
              </a:rPr>
              <a:t>Uma detecção por IA funcionou em dez imagens de um ambiente. Isso comprova desempenho em qualquer local?</a:t>
            </a:r>
          </a:p>
        </p:txBody>
      </p:sp>
      <p:sp>
        <p:nvSpPr>
          <p:cNvPr id="5" name="audience-deliverable">
            <a:extLst xmlns:a="http://schemas.openxmlformats.org/drawingml/2006/main">
              <a:ext uri="{FF2B5EF4-FFF2-40B4-BE49-F238E27FC236}">
                <a16:creationId xmlns:a16="http://schemas.microsoft.com/office/drawing/2014/main" id="{20793245-1CEA-4C71-8720-BD5EAA4D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E2C38"/>
                </a:solidFill>
                <a:latin typeface="DejaVu Sans"/>
                <a:ea typeface="DejaVu Sans"/>
                <a:cs typeface="DejaVu Sans"/>
              </a:rPr>
              <a:t>Que evidência sustenta sua resposta?</a:t>
            </a:r>
          </a:p>
        </p:txBody>
      </p:sp>
    </p:spTree>
    <p:extLst>
      <p:ext uri="{BB962C8B-B14F-4D97-AF65-F5344CB8AC3E}">
        <p14:creationId xmlns:p14="http://schemas.microsoft.com/office/powerpoint/2010/main" val="1858320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2026-10-13T23:56:56.6210000Z</dcterms:created>
  <dcterms:modified xsi:type="dcterms:W3CDTF">2026-10-13T23:56:56.6210000Z</dcterms:modified>
</coreProperties>
</file>